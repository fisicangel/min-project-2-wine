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ea0bc35ca49f9" /><Relationship Type="http://schemas.openxmlformats.org/officeDocument/2006/relationships/extended-properties" Target="/docProps/app.xml" Id="Rfbe83affea284547" /><Relationship Type="http://schemas.openxmlformats.org/officeDocument/2006/relationships/officeDocument" Target="/ppt/presentation.xml" Id="R73c7d7fc8836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800a0e29f4490"/>
  </p:sldMasterIdLst>
  <p:notesMasterIdLst>
    <p:notesMasterId xmlns:r="http://schemas.openxmlformats.org/officeDocument/2006/relationships" r:id="R12e7a6e8a4f5405e"/>
  </p:notesMasterIdLst>
  <p:sldIdLst>
    <p:sldId xmlns:r="http://schemas.openxmlformats.org/officeDocument/2006/relationships" id="256" r:id="Rec3605bb82fd4e22"/>
    <p:sldId xmlns:r="http://schemas.openxmlformats.org/officeDocument/2006/relationships" id="257" r:id="Rea7147efa1224e78"/>
    <p:sldId xmlns:r="http://schemas.openxmlformats.org/officeDocument/2006/relationships" id="258" r:id="Rb7c5f823a6b045ad"/>
    <p:sldId xmlns:r="http://schemas.openxmlformats.org/officeDocument/2006/relationships" id="259" r:id="R3db3a12fe5144313"/>
    <p:sldId xmlns:r="http://schemas.openxmlformats.org/officeDocument/2006/relationships" id="260" r:id="R707e605110ff4b0a"/>
    <p:sldId xmlns:r="http://schemas.openxmlformats.org/officeDocument/2006/relationships" id="261" r:id="Rdc090307ffbd48fe"/>
    <p:sldId xmlns:r="http://schemas.openxmlformats.org/officeDocument/2006/relationships" id="262" r:id="Rfba00618a59a44d1"/>
    <p:sldId xmlns:r="http://schemas.openxmlformats.org/officeDocument/2006/relationships" id="263" r:id="R267626c6feb942be"/>
    <p:sldId xmlns:r="http://schemas.openxmlformats.org/officeDocument/2006/relationships" id="264" r:id="R84d1923527604445"/>
    <p:sldId xmlns:r="http://schemas.openxmlformats.org/officeDocument/2006/relationships" id="265" r:id="Rc94ab30021bf4f5c"/>
    <p:sldId xmlns:r="http://schemas.openxmlformats.org/officeDocument/2006/relationships" id="266" r:id="R8048d3c4cb6c4b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f7046cbb5243d1" /><Relationship Type="http://schemas.openxmlformats.org/officeDocument/2006/relationships/slideMaster" Target="/ppt/slideMasters/slideMaster1.xml" Id="R03b800a0e29f4490" /><Relationship Type="http://schemas.openxmlformats.org/officeDocument/2006/relationships/notesMaster" Target="/ppt/notesMasters/notesMaster1.xml" Id="R12e7a6e8a4f5405e" /><Relationship Type="http://schemas.openxmlformats.org/officeDocument/2006/relationships/presProps" Target="/ppt/presProps.xml" Id="R5962222862574156" /><Relationship Type="http://schemas.openxmlformats.org/officeDocument/2006/relationships/tableStyles" Target="/ppt/tableStyles.xml" Id="R7ba5bebfd86241f2" /><Relationship Type="http://schemas.openxmlformats.org/officeDocument/2006/relationships/slide" Target="/ppt/slides/slide1.xml" Id="Rec3605bb82fd4e22" /><Relationship Type="http://schemas.openxmlformats.org/officeDocument/2006/relationships/slide" Target="/ppt/slides/slide2.xml" Id="Rea7147efa1224e78" /><Relationship Type="http://schemas.openxmlformats.org/officeDocument/2006/relationships/slide" Target="/ppt/slides/slide3.xml" Id="Rb7c5f823a6b045ad" /><Relationship Type="http://schemas.openxmlformats.org/officeDocument/2006/relationships/slide" Target="/ppt/slides/slide4.xml" Id="R3db3a12fe5144313" /><Relationship Type="http://schemas.openxmlformats.org/officeDocument/2006/relationships/slide" Target="/ppt/slides/slide5.xml" Id="R707e605110ff4b0a" /><Relationship Type="http://schemas.openxmlformats.org/officeDocument/2006/relationships/slide" Target="/ppt/slides/slide6.xml" Id="Rdc090307ffbd48fe" /><Relationship Type="http://schemas.openxmlformats.org/officeDocument/2006/relationships/slide" Target="/ppt/slides/slide7.xml" Id="Rfba00618a59a44d1" /><Relationship Type="http://schemas.openxmlformats.org/officeDocument/2006/relationships/slide" Target="/ppt/slides/slide8.xml" Id="R267626c6feb942be" /><Relationship Type="http://schemas.openxmlformats.org/officeDocument/2006/relationships/slide" Target="/ppt/slides/slide9.xml" Id="R84d1923527604445" /><Relationship Type="http://schemas.openxmlformats.org/officeDocument/2006/relationships/slide" Target="/ppt/slides/slide10.xml" Id="Rc94ab30021bf4f5c" /><Relationship Type="http://schemas.openxmlformats.org/officeDocument/2006/relationships/slide" Target="/ppt/slides/slide11.xml" Id="R8048d3c4cb6c4b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da3d7cc025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b397f476d459f" /><Relationship Type="http://schemas.openxmlformats.org/officeDocument/2006/relationships/notesMaster" Target="/ppt/notesMasters/notesMaster1.xml" Id="R69121459d751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6f65bfac0642fc" /><Relationship Type="http://schemas.openxmlformats.org/officeDocument/2006/relationships/notesMaster" Target="/ppt/notesMasters/notesMaster1.xml" Id="R825b37c13c15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9a6ad37424661" /><Relationship Type="http://schemas.openxmlformats.org/officeDocument/2006/relationships/notesMaster" Target="/ppt/notesMasters/notesMaster1.xml" Id="Rb7f7e2a1068b43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656e92b544f18" /><Relationship Type="http://schemas.openxmlformats.org/officeDocument/2006/relationships/notesMaster" Target="/ppt/notesMasters/notesMaster1.xml" Id="R24f135711dd34f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56d6b6975418e" /><Relationship Type="http://schemas.openxmlformats.org/officeDocument/2006/relationships/notesMaster" Target="/ppt/notesMasters/notesMaster1.xml" Id="Rb0f699ef6d0144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d87e3ab9174efe" /><Relationship Type="http://schemas.openxmlformats.org/officeDocument/2006/relationships/notesMaster" Target="/ppt/notesMasters/notesMaster1.xml" Id="Rc30b5bc9ee4243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66830c33a149d5" /><Relationship Type="http://schemas.openxmlformats.org/officeDocument/2006/relationships/notesMaster" Target="/ppt/notesMasters/notesMaster1.xml" Id="Rdfdee710162145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88e32f7434717" /><Relationship Type="http://schemas.openxmlformats.org/officeDocument/2006/relationships/notesMaster" Target="/ppt/notesMasters/notesMaster1.xml" Id="R5f6b611f2f3a4d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82ced2d20a4e10" /><Relationship Type="http://schemas.openxmlformats.org/officeDocument/2006/relationships/notesMaster" Target="/ppt/notesMasters/notesMaster1.xml" Id="R00bdbdbdfde94d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fd1b957e8f4d47" /><Relationship Type="http://schemas.openxmlformats.org/officeDocument/2006/relationships/notesMaster" Target="/ppt/notesMasters/notesMaster1.xml" Id="Rad5bd7146d3044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270934869b4bea" /><Relationship Type="http://schemas.openxmlformats.org/officeDocument/2006/relationships/notesMaster" Target="/ppt/notesMasters/notesMaster1.xml" Id="R9c4430b8efc5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https://archive.ics.uci.edu/dataset/186/wine+quality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https://archive.ics.uci.edu/dataset/186/wine+quality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notebook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edb41d645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51e3244b94a1c" /><Relationship Type="http://schemas.openxmlformats.org/officeDocument/2006/relationships/slideLayout" Target="/ppt/slideLayouts/slideLayout1.xml" Id="R563d569876554f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d569876554f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51355df04f76" /><Relationship Type="http://schemas.openxmlformats.org/officeDocument/2006/relationships/notesSlide" Target="/ppt/notesSlides/notesSlide1.xml" Id="R52782e105618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c9f18f9124a67" /><Relationship Type="http://schemas.openxmlformats.org/officeDocument/2006/relationships/notesSlide" Target="/ppt/notesSlides/notesSlide2.xml" Id="R7f34b6432d56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cd002a3634ab0" /><Relationship Type="http://schemas.openxmlformats.org/officeDocument/2006/relationships/notesSlide" Target="/ppt/notesSlides/notesSlide3.xml" Id="Rbd90c1140baf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ce8af25ed4563" /><Relationship Type="http://schemas.openxmlformats.org/officeDocument/2006/relationships/notesSlide" Target="/ppt/notesSlides/notesSlide4.xml" Id="R2ae1868b4968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c0680cdd9462d" /><Relationship Type="http://schemas.openxmlformats.org/officeDocument/2006/relationships/chart" Target="/ppt/slides/charts/chart1.xml" Id="R625cb48c6cfe4842" /><Relationship Type="http://schemas.openxmlformats.org/officeDocument/2006/relationships/notesSlide" Target="/ppt/notesSlides/notesSlide5.xml" Id="R63ea23ab08c4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e277c968e48ab" /><Relationship Type="http://schemas.openxmlformats.org/officeDocument/2006/relationships/chart" Target="/ppt/slides/charts/chart2.xml" Id="R4346d0a23dfc43c5" /><Relationship Type="http://schemas.openxmlformats.org/officeDocument/2006/relationships/notesSlide" Target="/ppt/notesSlides/notesSlide6.xml" Id="R5571971339ce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9f53275a34d69" /><Relationship Type="http://schemas.openxmlformats.org/officeDocument/2006/relationships/chart" Target="/ppt/slides/charts/chart3.xml" Id="R280a80b5eaf94a60" /><Relationship Type="http://schemas.openxmlformats.org/officeDocument/2006/relationships/notesSlide" Target="/ppt/notesSlides/notesSlide7.xml" Id="R336ca9af22654f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90d5b22964545" /><Relationship Type="http://schemas.openxmlformats.org/officeDocument/2006/relationships/notesSlide" Target="/ppt/notesSlides/notesSlide8.xml" Id="Re0a01f868d324d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ce13903e04d2c" /><Relationship Type="http://schemas.openxmlformats.org/officeDocument/2006/relationships/notesSlide" Target="/ppt/notesSlides/notesSlide9.xml" Id="R7f798043020743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ca62afbc94122" /><Relationship Type="http://schemas.openxmlformats.org/officeDocument/2006/relationships/chart" Target="/ppt/slides/charts/chart4.xml" Id="Rc55dc9052b964acb" /><Relationship Type="http://schemas.openxmlformats.org/officeDocument/2006/relationships/notesSlide" Target="/ppt/notesSlides/notesSlide10.xml" Id="Rdde86d56fda948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e8561bfc4c1f" /><Relationship Type="http://schemas.openxmlformats.org/officeDocument/2006/relationships/notesSlide" Target="/ppt/notesSlides/notesSlide11.xml" Id="Rb220bcb0608f401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Baseline</c:v>
              </c:pt>
              <c:pt idx="1">
                <c:v>Unscaled KNN
k=10</c:v>
              </c:pt>
              <c:pt idx="2">
                <c:v>Normalized KNN
k=5</c:v>
              </c:pt>
              <c:pt idx="3">
                <c:v>Tuned KNN</c:v>
              </c:pt>
            </c:strLit>
          </c:cat>
          <c:val>
            <c:numLit>
              <c:formatCode>General</c:formatCode>
              <c:ptCount val="4"/>
              <c:pt idx="0">
                <c:v>65.95</c:v>
              </c:pt>
              <c:pt idx="1">
                <c:v>67.84</c:v>
              </c:pt>
              <c:pt idx="2">
                <c:v>73.27</c:v>
              </c:pt>
              <c:pt idx="3">
                <c:v>75.16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Baseline</c:v>
              </c:pt>
              <c:pt idx="1">
                <c:v>KNN unscaled</c:v>
              </c:pt>
              <c:pt idx="2">
                <c:v>KNN normalized</c:v>
              </c:pt>
              <c:pt idx="3">
                <c:v>Tuned KNN</c:v>
              </c:pt>
              <c:pt idx="4">
                <c:v>Random Forest</c:v>
              </c:pt>
              <c:pt idx="5">
                <c:v>Gradient Boosting</c:v>
              </c:pt>
            </c:strLit>
          </c:cat>
          <c:val>
            <c:numLit>
              <c:formatCode>General</c:formatCode>
              <c:ptCount val="6"/>
              <c:pt idx="0">
                <c:v>65.95</c:v>
              </c:pt>
              <c:pt idx="1">
                <c:v>67.84</c:v>
              </c:pt>
              <c:pt idx="2">
                <c:v>73.27</c:v>
              </c:pt>
              <c:pt idx="3">
                <c:v>75.16</c:v>
              </c:pt>
              <c:pt idx="4">
                <c:v>76.29</c:v>
              </c:pt>
              <c:pt idx="5">
                <c:v>76.67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67.49</c:v>
              </c:pt>
              <c:pt idx="1">
                <c:v>63</c:v>
              </c:pt>
              <c:pt idx="2">
                <c:v>67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ED7D31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60.74</c:v>
              </c:pt>
              <c:pt idx="1">
                <c:v>65</c:v>
              </c:pt>
              <c:pt idx="2">
                <c:v>54</c:v>
              </c:pt>
            </c:numLit>
          </c:val>
        </c:ser>
        <c:ser>
          <c:idx val="2"/>
          <c:order val="2"/>
          <c:tx>
            <c:v>F1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Tuned GB</c:v>
              </c:pt>
              <c:pt idx="1">
                <c:v>Tuned RF</c:v>
              </c:pt>
              <c:pt idx="2">
                <c:v>Tuned KNN</c:v>
              </c:pt>
            </c:strLit>
          </c:cat>
          <c:val>
            <c:numLit>
              <c:formatCode>General</c:formatCode>
              <c:ptCount val="3"/>
              <c:pt idx="0">
                <c:v>63.94</c:v>
              </c:pt>
              <c:pt idx="1">
                <c:v>64</c:v>
              </c:pt>
              <c:pt idx="2">
                <c:v>60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Random Forest importance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Alcohol</c:v>
              </c:pt>
              <c:pt idx="1">
                <c:v>Density</c:v>
              </c:pt>
              <c:pt idx="2">
                <c:v>Volatile acidity</c:v>
              </c:pt>
              <c:pt idx="3">
                <c:v>Free SO2</c:v>
              </c:pt>
              <c:pt idx="4">
                <c:v>Total sulfur dioxide</c:v>
              </c:pt>
              <c:pt idx="5">
                <c:v>Chlorides</c:v>
              </c:pt>
            </c:strLit>
          </c:cat>
          <c:val>
            <c:numLit>
              <c:formatCode>General</c:formatCode>
              <c:ptCount val="6"/>
              <c:pt idx="0">
                <c:v>16.09</c:v>
              </c:pt>
              <c:pt idx="1">
                <c:v>12.41</c:v>
              </c:pt>
              <c:pt idx="2">
                <c:v>10.12</c:v>
              </c:pt>
              <c:pt idx="3">
                <c:v>10.06</c:v>
              </c:pt>
              <c:pt idx="4">
                <c:v>8.47</c:v>
              </c:pt>
              <c:pt idx="5">
                <c:v>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band">
            <a:extLst xmlns:a="http://schemas.openxmlformats.org/drawingml/2006/main">
              <a:ext uri="{FF2B5EF4-FFF2-40B4-BE49-F238E27FC236}">
                <a16:creationId xmlns:a16="http://schemas.microsoft.com/office/drawing/2014/main" id="{A093917E-959B-4B67-94A3-CC84CC8B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472728-DFEF-49C5-8BD1-787F91A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MACHINE LEARNING PROJECT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A8E194-FCE5-4E3A-976F-38BB0A6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4213D"/>
                </a:solidFill>
              </a:defRPr>
            </a:pPr>
            <a:r>
              <a:rPr sz="4650" b="1">
                <a:solidFill>
                  <a:srgbClr val="14213D"/>
                </a:solidFill>
              </a:rPr>
              <a:t>White Wine Quality</a:t>
            </a:r>
          </a:p>
          <a:p xmlns:a="http://schemas.openxmlformats.org/drawingml/2006/main">
            <a:pPr algn="l">
              <a:defRPr sz="4650" b="1">
                <a:solidFill>
                  <a:srgbClr val="14213D"/>
                </a:solidFill>
              </a:defRPr>
            </a:pPr>
            <a:r>
              <a:rPr sz="4650" b="1">
                <a:solidFill>
                  <a:srgbClr val="14213D"/>
                </a:solidFill>
              </a:rPr>
              <a:t>Classification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D4846D1-D5B4-41D5-BC19-8A5599A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573"/>
                </a:solidFill>
              </a:defRPr>
            </a:pPr>
            <a:r>
              <a:rPr sz="1875" b="0">
                <a:solidFill>
                  <a:srgbClr val="5B6573"/>
                </a:solidFill>
              </a:rPr>
              <a:t>From chemical measurements to a defensible quality-screening decision</a:t>
            </a:r>
          </a:p>
        </p:txBody>
      </p:sp>
      <p:sp>
        <p:nvSpPr>
          <p:cNvPr id="5" name="rule-100-462">
            <a:extLst xmlns:a="http://schemas.openxmlformats.org/drawingml/2006/main">
              <a:ext uri="{FF2B5EF4-FFF2-40B4-BE49-F238E27FC236}">
                <a16:creationId xmlns:a16="http://schemas.microsoft.com/office/drawing/2014/main" id="{7C51D2D5-6969-4577-A2CC-F03BF7F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names">
            <a:extLst xmlns:a="http://schemas.openxmlformats.org/drawingml/2006/main">
              <a:ext uri="{FF2B5EF4-FFF2-40B4-BE49-F238E27FC236}">
                <a16:creationId xmlns:a16="http://schemas.microsoft.com/office/drawing/2014/main" id="{C1635195-7BDB-42B2-91F7-E2F58E6F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Angelica, Project Manager  |  Paul</a:t>
            </a:r>
          </a:p>
        </p:txBody>
      </p:sp>
      <p:sp>
        <p:nvSpPr>
          <p:cNvPr id="7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FFADBC0C-A21B-4486-BB10-C9B1A9E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716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76.67%</a:t>
            </a:r>
          </a:p>
        </p:txBody>
      </p:sp>
      <p:sp>
        <p:nvSpPr>
          <p:cNvPr id="8" name="cover-result-label">
            <a:extLst xmlns:a="http://schemas.openxmlformats.org/drawingml/2006/main">
              <a:ext uri="{FF2B5EF4-FFF2-40B4-BE49-F238E27FC236}">
                <a16:creationId xmlns:a16="http://schemas.microsoft.com/office/drawing/2014/main" id="{DC16663F-DE02-422B-90A7-1079072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final test accuracy</a:t>
            </a:r>
          </a:p>
        </p:txBody>
      </p:sp>
      <p:sp>
        <p:nvSpPr>
          <p:cNvPr id="9" name="cover-goal">
            <a:extLst xmlns:a="http://schemas.openxmlformats.org/drawingml/2006/main">
              <a:ext uri="{FF2B5EF4-FFF2-40B4-BE49-F238E27FC236}">
                <a16:creationId xmlns:a16="http://schemas.microsoft.com/office/drawing/2014/main" id="{38E7E1D5-25EE-4EC6-BBDB-5A92885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8235"/>
                </a:solidFill>
              </a:defRPr>
            </a:pPr>
            <a:r>
              <a:rPr sz="1650" b="1">
                <a:solidFill>
                  <a:srgbClr val="548235"/>
                </a:solidFill>
              </a:rPr>
              <a:t>70% objective exceeded</a:t>
            </a:r>
          </a:p>
        </p:txBody>
      </p:sp>
    </p:spTree>
    <p:extLst>
      <p:ext uri="{BB962C8B-B14F-4D97-AF65-F5344CB8AC3E}">
        <p14:creationId xmlns:p14="http://schemas.microsoft.com/office/powerpoint/2010/main" val="436395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2">
            <a:extLst xmlns:a="http://schemas.openxmlformats.org/drawingml/2006/main">
              <a:ext uri="{FF2B5EF4-FFF2-40B4-BE49-F238E27FC236}">
                <a16:creationId xmlns:a16="http://schemas.microsoft.com/office/drawing/2014/main" id="{08A6D1E8-EEC6-4253-B034-87478C49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A75644E-4B5E-45FA-88F7-26306EF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A screening model must be accurate and responsible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290098A9-FB13-4165-8255-540057BC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7FF7615-861A-4D51-BA73-07291D0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D9DEEDA4-0EB1-443C-89A9-9FAE7C6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Can 11 physicochemical properties predict whether a white wine is lower quality or acceptable/higher quality?</a:t>
            </a:r>
          </a:p>
        </p:txBody>
      </p:sp>
      <p:sp>
        <p:nvSpPr>
          <p:cNvPr id="6" name="goal-panel">
            <a:extLst xmlns:a="http://schemas.openxmlformats.org/drawingml/2006/main">
              <a:ext uri="{FF2B5EF4-FFF2-40B4-BE49-F238E27FC236}">
                <a16:creationId xmlns:a16="http://schemas.microsoft.com/office/drawing/2014/main" id="{F57897E7-CDFA-47F5-9E8E-33A64231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38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al-number">
            <a:extLst xmlns:a="http://schemas.openxmlformats.org/drawingml/2006/main">
              <a:ext uri="{FF2B5EF4-FFF2-40B4-BE49-F238E27FC236}">
                <a16:creationId xmlns:a16="http://schemas.microsoft.com/office/drawing/2014/main" id="{5018C6E4-6121-44AF-9319-CC44161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3D8DFF"/>
                </a:solidFill>
              </a:defRPr>
            </a:pPr>
            <a:r>
              <a:rPr sz="4650" b="1">
                <a:solidFill>
                  <a:srgbClr val="3D8DFF"/>
                </a:solidFill>
              </a:rPr>
              <a:t>70%</a:t>
            </a:r>
          </a:p>
        </p:txBody>
      </p:sp>
      <p:sp>
        <p:nvSpPr>
          <p:cNvPr id="8" name="goal-label">
            <a:extLst xmlns:a="http://schemas.openxmlformats.org/drawingml/2006/main">
              <a:ext uri="{FF2B5EF4-FFF2-40B4-BE49-F238E27FC236}">
                <a16:creationId xmlns:a16="http://schemas.microsoft.com/office/drawing/2014/main" id="{5B3B4B3F-F5A3-4C59-811B-5B9B7AB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minimum test-accuracy objective</a:t>
            </a:r>
          </a:p>
        </p:txBody>
      </p:sp>
      <p:sp>
        <p:nvSpPr>
          <p:cNvPr id="9" name="responsible">
            <a:extLst xmlns:a="http://schemas.openxmlformats.org/drawingml/2006/main">
              <a:ext uri="{FF2B5EF4-FFF2-40B4-BE49-F238E27FC236}">
                <a16:creationId xmlns:a16="http://schemas.microsoft.com/office/drawing/2014/main" id="{B572D1B4-57E5-406E-AA73-0B25B39D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7D31"/>
                </a:solidFill>
              </a:defRPr>
            </a:pPr>
            <a:r>
              <a:rPr sz="1875" b="1">
                <a:solidFill>
                  <a:srgbClr val="ED7D31"/>
                </a:solidFill>
              </a:rPr>
              <a:t>Accuracy alone is insufficient</a:t>
            </a:r>
          </a:p>
        </p:txBody>
      </p:sp>
      <p:sp>
        <p:nvSpPr>
          <p:cNvPr id="10" name="metrics">
            <a:extLst xmlns:a="http://schemas.openxmlformats.org/drawingml/2006/main">
              <a:ext uri="{FF2B5EF4-FFF2-40B4-BE49-F238E27FC236}">
                <a16:creationId xmlns:a16="http://schemas.microsoft.com/office/drawing/2014/main" id="{56AC5581-1D08-4B4A-8905-BB5CEB2F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We also evaluate precision, recall and F1-score for lower-quality wines because missing them may be costly in quality control.</a:t>
            </a:r>
          </a:p>
        </p:txBody>
      </p:sp>
      <p:sp>
        <p:nvSpPr>
          <p:cNvPr id="11" name="support">
            <a:extLst xmlns:a="http://schemas.openxmlformats.org/drawingml/2006/main">
              <a:ext uri="{FF2B5EF4-FFF2-40B4-BE49-F238E27FC236}">
                <a16:creationId xmlns:a16="http://schemas.microsoft.com/office/drawing/2014/main" id="{835EAC9F-CF1D-43EB-8629-39D0F977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8235"/>
                </a:solidFill>
              </a:defRPr>
            </a:pPr>
            <a:r>
              <a:rPr sz="1500" b="1">
                <a:solidFill>
                  <a:srgbClr val="548235"/>
                </a:solidFill>
              </a:rPr>
              <a:t>Decision support - not a replacement for sensory experts</a:t>
            </a:r>
          </a:p>
        </p:txBody>
      </p:sp>
    </p:spTree>
    <p:extLst>
      <p:ext uri="{BB962C8B-B14F-4D97-AF65-F5344CB8AC3E}">
        <p14:creationId xmlns:p14="http://schemas.microsoft.com/office/powerpoint/2010/main" val="2089212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3">
            <a:extLst xmlns:a="http://schemas.openxmlformats.org/drawingml/2006/main">
              <a:ext uri="{FF2B5EF4-FFF2-40B4-BE49-F238E27FC236}">
                <a16:creationId xmlns:a16="http://schemas.microsoft.com/office/drawing/2014/main" id="{4A321F16-DF94-422D-84FA-563896E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E15AF63-5A95-43E7-9E8D-10AAFD67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Cleaning left 3,961 unique white-wine records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1B33C4F1-2F7C-4D91-BB91-D93BDA8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D4A81DC-BE44-4AC3-A46B-B29C561C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original-panel">
            <a:extLst xmlns:a="http://schemas.openxmlformats.org/drawingml/2006/main">
              <a:ext uri="{FF2B5EF4-FFF2-40B4-BE49-F238E27FC236}">
                <a16:creationId xmlns:a16="http://schemas.microsoft.com/office/drawing/2014/main" id="{36B5C93F-421A-41CC-BE92-8AD255D6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riginal-accent">
            <a:extLst xmlns:a="http://schemas.openxmlformats.org/drawingml/2006/main">
              <a:ext uri="{FF2B5EF4-FFF2-40B4-BE49-F238E27FC236}">
                <a16:creationId xmlns:a16="http://schemas.microsoft.com/office/drawing/2014/main" id="{08575EFF-FE3F-4BE8-B6DE-3B1531AC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riginal-value">
            <a:extLst xmlns:a="http://schemas.openxmlformats.org/drawingml/2006/main">
              <a:ext uri="{FF2B5EF4-FFF2-40B4-BE49-F238E27FC236}">
                <a16:creationId xmlns:a16="http://schemas.microsoft.com/office/drawing/2014/main" id="{678D3FAF-4200-467B-AC5F-05E7344B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4,898</a:t>
            </a:r>
          </a:p>
        </p:txBody>
      </p:sp>
      <p:sp>
        <p:nvSpPr>
          <p:cNvPr id="8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337B1548-B245-4FC2-AA29-3FDE889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original observations</a:t>
            </a:r>
          </a:p>
        </p:txBody>
      </p:sp>
      <p:sp>
        <p:nvSpPr>
          <p:cNvPr id="9" name="minus">
            <a:extLst xmlns:a="http://schemas.openxmlformats.org/drawingml/2006/main">
              <a:ext uri="{FF2B5EF4-FFF2-40B4-BE49-F238E27FC236}">
                <a16:creationId xmlns:a16="http://schemas.microsoft.com/office/drawing/2014/main" id="{CC0B704D-9B26-4BCC-B6AC-F06EE0CA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52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B6573"/>
                </a:solidFill>
              </a:defRPr>
            </a:pPr>
            <a:r>
              <a:rPr sz="3150" b="1">
                <a:solidFill>
                  <a:srgbClr val="5B6573"/>
                </a:solidFill>
              </a:rPr>
              <a:t>-</a:t>
            </a:r>
          </a:p>
        </p:txBody>
      </p:sp>
      <p:sp>
        <p:nvSpPr>
          <p:cNvPr id="10" name="dupes-panel">
            <a:extLst xmlns:a="http://schemas.openxmlformats.org/drawingml/2006/main">
              <a:ext uri="{FF2B5EF4-FFF2-40B4-BE49-F238E27FC236}">
                <a16:creationId xmlns:a16="http://schemas.microsoft.com/office/drawing/2014/main" id="{DD835B20-F90D-4FC7-8AB0-D6CEBDEF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upes-accent">
            <a:extLst xmlns:a="http://schemas.openxmlformats.org/drawingml/2006/main">
              <a:ext uri="{FF2B5EF4-FFF2-40B4-BE49-F238E27FC236}">
                <a16:creationId xmlns:a16="http://schemas.microsoft.com/office/drawing/2014/main" id="{F9B870CC-F0C7-44D7-BBC9-0D22617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upes-value">
            <a:extLst xmlns:a="http://schemas.openxmlformats.org/drawingml/2006/main">
              <a:ext uri="{FF2B5EF4-FFF2-40B4-BE49-F238E27FC236}">
                <a16:creationId xmlns:a16="http://schemas.microsoft.com/office/drawing/2014/main" id="{CF6B8965-2B36-4963-9D1F-011FC203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431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937</a:t>
            </a:r>
          </a:p>
        </p:txBody>
      </p:sp>
      <p:sp>
        <p:nvSpPr>
          <p:cNvPr id="13" name="dupes-label">
            <a:extLst xmlns:a="http://schemas.openxmlformats.org/drawingml/2006/main">
              <a:ext uri="{FF2B5EF4-FFF2-40B4-BE49-F238E27FC236}">
                <a16:creationId xmlns:a16="http://schemas.microsoft.com/office/drawing/2014/main" id="{72D4064B-A479-450C-84B3-E90E6798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duplicate rows removed</a:t>
            </a:r>
          </a:p>
        </p:txBody>
      </p:sp>
      <p:sp>
        <p:nvSpPr>
          <p:cNvPr id="14" name="equals">
            <a:extLst xmlns:a="http://schemas.openxmlformats.org/drawingml/2006/main">
              <a:ext uri="{FF2B5EF4-FFF2-40B4-BE49-F238E27FC236}">
                <a16:creationId xmlns:a16="http://schemas.microsoft.com/office/drawing/2014/main" id="{5E604B3C-4033-4D86-9722-529C696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52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B6573"/>
                </a:solidFill>
              </a:defRPr>
            </a:pPr>
            <a:r>
              <a:rPr sz="3150" b="1">
                <a:solidFill>
                  <a:srgbClr val="5B6573"/>
                </a:solidFill>
              </a:rPr>
              <a:t>=</a:t>
            </a:r>
          </a:p>
        </p:txBody>
      </p:sp>
      <p:sp>
        <p:nvSpPr>
          <p:cNvPr id="15" name="clean-panel">
            <a:extLst xmlns:a="http://schemas.openxmlformats.org/drawingml/2006/main">
              <a:ext uri="{FF2B5EF4-FFF2-40B4-BE49-F238E27FC236}">
                <a16:creationId xmlns:a16="http://schemas.microsoft.com/office/drawing/2014/main" id="{BBEB2E81-371F-4D0F-83C8-077E87CC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05000"/>
            <a:ext cx="2895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ean-accent">
            <a:extLst xmlns:a="http://schemas.openxmlformats.org/drawingml/2006/main">
              <a:ext uri="{FF2B5EF4-FFF2-40B4-BE49-F238E27FC236}">
                <a16:creationId xmlns:a16="http://schemas.microsoft.com/office/drawing/2014/main" id="{B7650EE5-67D4-49F2-9AAD-F2ED4149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05000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ean-value">
            <a:extLst xmlns:a="http://schemas.openxmlformats.org/drawingml/2006/main">
              <a:ext uri="{FF2B5EF4-FFF2-40B4-BE49-F238E27FC236}">
                <a16:creationId xmlns:a16="http://schemas.microsoft.com/office/drawing/2014/main" id="{B13DAABC-CA05-4623-A866-8B38462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43125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3,961</a:t>
            </a:r>
          </a:p>
        </p:txBody>
      </p:sp>
      <p:sp>
        <p:nvSpPr>
          <p:cNvPr id="18" name="clean-label">
            <a:extLst xmlns:a="http://schemas.openxmlformats.org/drawingml/2006/main">
              <a:ext uri="{FF2B5EF4-FFF2-40B4-BE49-F238E27FC236}">
                <a16:creationId xmlns:a16="http://schemas.microsoft.com/office/drawing/2014/main" id="{9F15F136-66E4-4DBC-AA1B-DA20D44C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384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cleaned observations</a:t>
            </a:r>
          </a:p>
        </p:txBody>
      </p:sp>
      <p:sp>
        <p:nvSpPr>
          <p:cNvPr id="19" name="features-head">
            <a:extLst xmlns:a="http://schemas.openxmlformats.org/drawingml/2006/main">
              <a:ext uri="{FF2B5EF4-FFF2-40B4-BE49-F238E27FC236}">
                <a16:creationId xmlns:a16="http://schemas.microsoft.com/office/drawing/2014/main" id="{175BE4E5-FE07-4730-938D-E84A92F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11 numeric predictors</a:t>
            </a:r>
          </a:p>
        </p:txBody>
      </p:sp>
      <p:sp>
        <p:nvSpPr>
          <p:cNvPr id="20" name="features">
            <a:extLst xmlns:a="http://schemas.openxmlformats.org/drawingml/2006/main">
              <a:ext uri="{FF2B5EF4-FFF2-40B4-BE49-F238E27FC236}">
                <a16:creationId xmlns:a16="http://schemas.microsoft.com/office/drawing/2014/main" id="{F31827D6-0461-4AD9-8AA9-35C0BE9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Alcohol  |  Density  |  Acidity  |  Sugar  |  Chlorides  |  Sulfur dioxide  |  pH  |  Sulphates</a:t>
            </a:r>
          </a:p>
        </p:txBody>
      </p:sp>
      <p:sp>
        <p:nvSpPr>
          <p:cNvPr id="21" name="missing">
            <a:extLst xmlns:a="http://schemas.openxmlformats.org/drawingml/2006/main">
              <a:ext uri="{FF2B5EF4-FFF2-40B4-BE49-F238E27FC236}">
                <a16:creationId xmlns:a16="http://schemas.microsoft.com/office/drawing/2014/main" id="{C83E6C43-7C8F-4183-BF7C-451CF34D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No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663478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4">
            <a:extLst xmlns:a="http://schemas.openxmlformats.org/drawingml/2006/main">
              <a:ext uri="{FF2B5EF4-FFF2-40B4-BE49-F238E27FC236}">
                <a16:creationId xmlns:a16="http://schemas.microsoft.com/office/drawing/2014/main" id="{FB41D4DA-6407-4C15-B6C3-EB1359ED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5E813FF-9F0E-4270-BF16-8A460895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A stratified split protected the final evaluation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895785F0-8591-40E4-A703-7D1777A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17E6EF3-7386-4924-AC8A-03B444DA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class0">
            <a:extLst xmlns:a="http://schemas.openxmlformats.org/drawingml/2006/main">
              <a:ext uri="{FF2B5EF4-FFF2-40B4-BE49-F238E27FC236}">
                <a16:creationId xmlns:a16="http://schemas.microsoft.com/office/drawing/2014/main" id="{28636D21-CC07-4910-81B1-64308890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7D31"/>
                </a:solidFill>
              </a:defRPr>
            </a:pPr>
            <a:r>
              <a:rPr sz="1875" b="1">
                <a:solidFill>
                  <a:srgbClr val="ED7D31"/>
                </a:solidFill>
              </a:rPr>
              <a:t>Class 0</a:t>
            </a:r>
          </a:p>
        </p:txBody>
      </p:sp>
      <p:sp>
        <p:nvSpPr>
          <p:cNvPr id="6" name="class0def">
            <a:extLst xmlns:a="http://schemas.openxmlformats.org/drawingml/2006/main">
              <a:ext uri="{FF2B5EF4-FFF2-40B4-BE49-F238E27FC236}">
                <a16:creationId xmlns:a16="http://schemas.microsoft.com/office/drawing/2014/main" id="{05EE0D5F-33BD-4C3A-B1BD-2A06E07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Quality scores 3-5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34.03% of cleaned data</a:t>
            </a:r>
          </a:p>
        </p:txBody>
      </p:sp>
      <p:sp>
        <p:nvSpPr>
          <p:cNvPr id="7" name="class1">
            <a:extLst xmlns:a="http://schemas.openxmlformats.org/drawingml/2006/main">
              <a:ext uri="{FF2B5EF4-FFF2-40B4-BE49-F238E27FC236}">
                <a16:creationId xmlns:a16="http://schemas.microsoft.com/office/drawing/2014/main" id="{D348A73B-3183-4F14-B1F8-DCA8BCA9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Class 1</a:t>
            </a:r>
          </a:p>
        </p:txBody>
      </p:sp>
      <p:sp>
        <p:nvSpPr>
          <p:cNvPr id="8" name="class1def">
            <a:extLst xmlns:a="http://schemas.openxmlformats.org/drawingml/2006/main">
              <a:ext uri="{FF2B5EF4-FFF2-40B4-BE49-F238E27FC236}">
                <a16:creationId xmlns:a16="http://schemas.microsoft.com/office/drawing/2014/main" id="{2260C74C-C2EF-4BF0-91E4-899AC9F3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Quality scores 6-9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65.97% of cleaned data</a:t>
            </a:r>
          </a:p>
        </p:txBody>
      </p:sp>
      <p:sp>
        <p:nvSpPr>
          <p:cNvPr id="9" name="rule-72-370">
            <a:extLst xmlns:a="http://schemas.openxmlformats.org/drawingml/2006/main">
              <a:ext uri="{FF2B5EF4-FFF2-40B4-BE49-F238E27FC236}">
                <a16:creationId xmlns:a16="http://schemas.microsoft.com/office/drawing/2014/main" id="{CF617A69-38D3-43B5-A855-0163873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55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ain">
            <a:extLst xmlns:a="http://schemas.openxmlformats.org/drawingml/2006/main">
              <a:ext uri="{FF2B5EF4-FFF2-40B4-BE49-F238E27FC236}">
                <a16:creationId xmlns:a16="http://schemas.microsoft.com/office/drawing/2014/main" id="{C0290D3C-5B16-423E-B43C-37F450AE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80% training</a:t>
            </a:r>
          </a:p>
        </p:txBody>
      </p:sp>
      <p:sp>
        <p:nvSpPr>
          <p:cNvPr id="11" name="trainn">
            <a:extLst xmlns:a="http://schemas.openxmlformats.org/drawingml/2006/main">
              <a:ext uri="{FF2B5EF4-FFF2-40B4-BE49-F238E27FC236}">
                <a16:creationId xmlns:a16="http://schemas.microsoft.com/office/drawing/2014/main" id="{900EF143-6BE5-42F9-AD92-5F68CB94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3,168 wines</a:t>
            </a:r>
          </a:p>
        </p:txBody>
      </p:sp>
      <p:sp>
        <p:nvSpPr>
          <p:cNvPr id="12" name="test">
            <a:extLst xmlns:a="http://schemas.openxmlformats.org/drawingml/2006/main">
              <a:ext uri="{FF2B5EF4-FFF2-40B4-BE49-F238E27FC236}">
                <a16:creationId xmlns:a16="http://schemas.microsoft.com/office/drawing/2014/main" id="{AC656337-97D8-41E2-8198-19BC294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20% test</a:t>
            </a:r>
          </a:p>
        </p:txBody>
      </p:sp>
      <p:sp>
        <p:nvSpPr>
          <p:cNvPr id="13" name="testn">
            <a:extLst xmlns:a="http://schemas.openxmlformats.org/drawingml/2006/main">
              <a:ext uri="{FF2B5EF4-FFF2-40B4-BE49-F238E27FC236}">
                <a16:creationId xmlns:a16="http://schemas.microsoft.com/office/drawing/2014/main" id="{916AA580-A663-4B31-B1AE-16B18CE3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793 untouched wines</a:t>
            </a:r>
          </a:p>
        </p:txBody>
      </p:sp>
      <p:sp>
        <p:nvSpPr>
          <p:cNvPr id="14" name="leakage">
            <a:extLst xmlns:a="http://schemas.openxmlformats.org/drawingml/2006/main">
              <a:ext uri="{FF2B5EF4-FFF2-40B4-BE49-F238E27FC236}">
                <a16:creationId xmlns:a16="http://schemas.microsoft.com/office/drawing/2014/main" id="{CB0098C5-AC9F-4181-BCFF-11181048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36480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ak-title">
            <a:extLst xmlns:a="http://schemas.openxmlformats.org/drawingml/2006/main">
              <a:ext uri="{FF2B5EF4-FFF2-40B4-BE49-F238E27FC236}">
                <a16:creationId xmlns:a16="http://schemas.microsoft.com/office/drawing/2014/main" id="{ECC45634-2787-47DE-9207-36B9914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Leakage prevention</a:t>
            </a:r>
          </a:p>
        </p:txBody>
      </p:sp>
      <p:sp>
        <p:nvSpPr>
          <p:cNvPr id="16" name="leak-body">
            <a:extLst xmlns:a="http://schemas.openxmlformats.org/drawingml/2006/main">
              <a:ext uri="{FF2B5EF4-FFF2-40B4-BE49-F238E27FC236}">
                <a16:creationId xmlns:a16="http://schemas.microsoft.com/office/drawing/2014/main" id="{ED1FF650-1619-4B51-8CF9-CEC0473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90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</a:defRPr>
            </a:pPr>
            <a:r>
              <a:rPr sz="1575" b="0">
                <a:solidFill>
                  <a:srgbClr val="14213D"/>
                </a:solidFill>
              </a:rPr>
              <a:t>Original quality score excluded from 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</a:defRPr>
            </a:pPr>
            <a:r>
              <a:rPr sz="1575" b="0">
                <a:solidFill>
                  <a:srgbClr val="14213D"/>
                </a:solidFill>
              </a:rPr>
              <a:t>Scaling fitted on training data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</a:defRPr>
            </a:pPr>
            <a:r>
              <a:rPr sz="1575" b="0">
                <a:solidFill>
                  <a:srgbClr val="14213D"/>
                </a:solidFill>
              </a:rPr>
              <a:t>Grid Search used training folds only.</a:t>
            </a:r>
          </a:p>
        </p:txBody>
      </p:sp>
      <p:sp>
        <p:nvSpPr>
          <p:cNvPr id="17" name="strat">
            <a:extLst xmlns:a="http://schemas.openxmlformats.org/drawingml/2006/main">
              <a:ext uri="{FF2B5EF4-FFF2-40B4-BE49-F238E27FC236}">
                <a16:creationId xmlns:a16="http://schemas.microsoft.com/office/drawing/2014/main" id="{9E176365-CCEF-4469-BD78-13A39B1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48235"/>
                </a:solidFill>
              </a:defRPr>
            </a:pPr>
            <a:r>
              <a:rPr sz="1575" b="1">
                <a:solidFill>
                  <a:srgbClr val="548235"/>
                </a:solidFill>
              </a:rPr>
              <a:t>Stratification kept class proportions nearly identical across train and test sets.</a:t>
            </a:r>
          </a:p>
        </p:txBody>
      </p:sp>
    </p:spTree>
    <p:extLst>
      <p:ext uri="{BB962C8B-B14F-4D97-AF65-F5344CB8AC3E}">
        <p14:creationId xmlns:p14="http://schemas.microsoft.com/office/powerpoint/2010/main" val="395240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FE816AAA-3917-478E-9172-DFE29A7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3580865-9F8E-4D85-8CB8-FDBAC074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Normalization helped KNN cross the 70% objective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EAD756E0-F0AD-4DD0-B321-F8034BF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B205F28-A20C-4DF1-90B2-BC271E56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5cb48c6cfe4842"/>
          </a:graphicData>
        </a:graphic>
      </p:graphicFrame>
      <p:sp>
        <p:nvSpPr>
          <p:cNvPr id="6" name="knn-note">
            <a:extLst xmlns:a="http://schemas.openxmlformats.org/drawingml/2006/main">
              <a:ext uri="{FF2B5EF4-FFF2-40B4-BE49-F238E27FC236}">
                <a16:creationId xmlns:a16="http://schemas.microsoft.com/office/drawing/2014/main" id="{32B16850-DB50-458F-952D-4DB9C33D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09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nn-note-title">
            <a:extLst xmlns:a="http://schemas.openxmlformats.org/drawingml/2006/main">
              <a:ext uri="{FF2B5EF4-FFF2-40B4-BE49-F238E27FC236}">
                <a16:creationId xmlns:a16="http://schemas.microsoft.com/office/drawing/2014/main" id="{99CDAFDD-9847-42A3-AB5E-34933B3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65D"/>
                </a:solidFill>
              </a:defRPr>
            </a:pPr>
            <a:r>
              <a:rPr sz="1875" b="1">
                <a:solidFill>
                  <a:srgbClr val="17365D"/>
                </a:solidFill>
              </a:rPr>
              <a:t>Why scaling matters</a:t>
            </a:r>
          </a:p>
        </p:txBody>
      </p:sp>
      <p:sp>
        <p:nvSpPr>
          <p:cNvPr id="8" name="knn-note-body">
            <a:extLst xmlns:a="http://schemas.openxmlformats.org/drawingml/2006/main">
              <a:ext uri="{FF2B5EF4-FFF2-40B4-BE49-F238E27FC236}">
                <a16:creationId xmlns:a16="http://schemas.microsoft.com/office/drawing/2014/main" id="{D3635573-B220-4AC5-99C2-C24C0D2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0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KNN uses distances. Features with large numeric ranges can dominate unless scales are aligned.</a:t>
            </a:r>
          </a:p>
        </p:txBody>
      </p:sp>
      <p:sp>
        <p:nvSpPr>
          <p:cNvPr id="9" name="knn-caveat">
            <a:extLst xmlns:a="http://schemas.openxmlformats.org/drawingml/2006/main">
              <a:ext uri="{FF2B5EF4-FFF2-40B4-BE49-F238E27FC236}">
                <a16:creationId xmlns:a16="http://schemas.microsoft.com/office/drawing/2014/main" id="{D442EF13-F4BF-426E-9B96-80E5B90F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7D31"/>
                </a:solidFill>
              </a:defRPr>
            </a:pPr>
            <a:r>
              <a:rPr sz="1500" b="1">
                <a:solidFill>
                  <a:srgbClr val="ED7D31"/>
                </a:solidFill>
              </a:rPr>
              <a:t>Controlled interpretation</a:t>
            </a:r>
          </a:p>
        </p:txBody>
      </p:sp>
      <p:sp>
        <p:nvSpPr>
          <p:cNvPr id="10" name="knn-caveat-body">
            <a:extLst xmlns:a="http://schemas.openxmlformats.org/drawingml/2006/main">
              <a:ext uri="{FF2B5EF4-FFF2-40B4-BE49-F238E27FC236}">
                <a16:creationId xmlns:a16="http://schemas.microsoft.com/office/drawing/2014/main" id="{BC0893CB-D6A2-46BD-AA0F-9E44C3C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The exploratory models changed both scaling and k; Grid Search later compared settings systematically.</a:t>
            </a:r>
          </a:p>
        </p:txBody>
      </p:sp>
    </p:spTree>
    <p:extLst>
      <p:ext uri="{BB962C8B-B14F-4D97-AF65-F5344CB8AC3E}">
        <p14:creationId xmlns:p14="http://schemas.microsoft.com/office/powerpoint/2010/main" val="6521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AAFE93E0-E391-493F-9055-3D498E8C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E4A67B1-A7AC-4E18-BEEB-D414ADE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Gradient Boosting delivered the strongest overall result</a:t>
            </a:r>
          </a:p>
        </p:txBody>
      </p:sp>
      <p:sp>
        <p:nvSpPr>
          <p:cNvPr id="3" name="rule-72-165">
            <a:extLst xmlns:a="http://schemas.openxmlformats.org/drawingml/2006/main">
              <a:ext uri="{FF2B5EF4-FFF2-40B4-BE49-F238E27FC236}">
                <a16:creationId xmlns:a16="http://schemas.microsoft.com/office/drawing/2014/main" id="{C10F0A2E-2036-4EFF-A4A7-D4649844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B9B1FE1-82BF-420A-A3EA-8FEF9976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429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46d0a23dfc43c5"/>
          </a:graphicData>
        </a:graphic>
      </p:graphicFrame>
      <p:sp>
        <p:nvSpPr>
          <p:cNvPr id="6" name="cv-panel">
            <a:extLst xmlns:a="http://schemas.openxmlformats.org/drawingml/2006/main">
              <a:ext uri="{FF2B5EF4-FFF2-40B4-BE49-F238E27FC236}">
                <a16:creationId xmlns:a16="http://schemas.microsoft.com/office/drawing/2014/main" id="{93C73259-8ADB-4BBA-B332-82706F46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v-accent">
            <a:extLst xmlns:a="http://schemas.openxmlformats.org/drawingml/2006/main">
              <a:ext uri="{FF2B5EF4-FFF2-40B4-BE49-F238E27FC236}">
                <a16:creationId xmlns:a16="http://schemas.microsoft.com/office/drawing/2014/main" id="{9E5FB39A-65EC-4C43-B80D-6F964556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v-value">
            <a:extLst xmlns:a="http://schemas.openxmlformats.org/drawingml/2006/main">
              <a:ext uri="{FF2B5EF4-FFF2-40B4-BE49-F238E27FC236}">
                <a16:creationId xmlns:a16="http://schemas.microsoft.com/office/drawing/2014/main" id="{5558348A-B497-47E5-87C3-E9796DF2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77.43%</a:t>
            </a:r>
          </a:p>
        </p:txBody>
      </p:sp>
      <p:sp>
        <p:nvSpPr>
          <p:cNvPr id="9" name="cv-label">
            <a:extLst xmlns:a="http://schemas.openxmlformats.org/drawingml/2006/main">
              <a:ext uri="{FF2B5EF4-FFF2-40B4-BE49-F238E27FC236}">
                <a16:creationId xmlns:a16="http://schemas.microsoft.com/office/drawing/2014/main" id="{4D1E06B8-9861-4DC0-8D88-11B9AE6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8607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five-fold cross-validation accuracy</a:t>
            </a:r>
          </a:p>
        </p:txBody>
      </p:sp>
      <p:sp>
        <p:nvSpPr>
          <p:cNvPr id="10" name="testbest-panel">
            <a:extLst xmlns:a="http://schemas.openxmlformats.org/drawingml/2006/main">
              <a:ext uri="{FF2B5EF4-FFF2-40B4-BE49-F238E27FC236}">
                <a16:creationId xmlns:a16="http://schemas.microsoft.com/office/drawing/2014/main" id="{EBAEE001-C3F7-4896-B6E5-76C0122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933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stbest-accent">
            <a:extLst xmlns:a="http://schemas.openxmlformats.org/drawingml/2006/main">
              <a:ext uri="{FF2B5EF4-FFF2-40B4-BE49-F238E27FC236}">
                <a16:creationId xmlns:a16="http://schemas.microsoft.com/office/drawing/2014/main" id="{3C653E10-78AD-4B9F-AFD1-8FAD3385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stbest-value">
            <a:extLst xmlns:a="http://schemas.openxmlformats.org/drawingml/2006/main">
              <a:ext uri="{FF2B5EF4-FFF2-40B4-BE49-F238E27FC236}">
                <a16:creationId xmlns:a16="http://schemas.microsoft.com/office/drawing/2014/main" id="{23C799B4-ADA1-4A6B-B769-22B226A7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76.67%</a:t>
            </a:r>
          </a:p>
        </p:txBody>
      </p:sp>
      <p:sp>
        <p:nvSpPr>
          <p:cNvPr id="13" name="testbest-label">
            <a:extLst xmlns:a="http://schemas.openxmlformats.org/drawingml/2006/main">
              <a:ext uri="{FF2B5EF4-FFF2-40B4-BE49-F238E27FC236}">
                <a16:creationId xmlns:a16="http://schemas.microsoft.com/office/drawing/2014/main" id="{9E4C129B-DDF5-4FF3-8D6A-1A6373E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9107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test accuracy</a:t>
            </a:r>
          </a:p>
        </p:txBody>
      </p:sp>
      <p:sp>
        <p:nvSpPr>
          <p:cNvPr id="14" name="fits">
            <a:extLst xmlns:a="http://schemas.openxmlformats.org/drawingml/2006/main">
              <a:ext uri="{FF2B5EF4-FFF2-40B4-BE49-F238E27FC236}">
                <a16:creationId xmlns:a16="http://schemas.microsoft.com/office/drawing/2014/main" id="{AFAEAAD3-2F43-4337-8C2E-3305B1F6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Grid Search: 72 combinations x 5 folds = 360 fits</a:t>
            </a:r>
          </a:p>
        </p:txBody>
      </p:sp>
    </p:spTree>
    <p:extLst>
      <p:ext uri="{BB962C8B-B14F-4D97-AF65-F5344CB8AC3E}">
        <p14:creationId xmlns:p14="http://schemas.microsoft.com/office/powerpoint/2010/main" val="1211388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7">
            <a:extLst xmlns:a="http://schemas.openxmlformats.org/drawingml/2006/main">
              <a:ext uri="{FF2B5EF4-FFF2-40B4-BE49-F238E27FC236}">
                <a16:creationId xmlns:a16="http://schemas.microsoft.com/office/drawing/2014/main" id="{4DAAEB99-BAA4-4842-9728-13CBDDDD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166BEF5-0B47-470A-8060-F40569DA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Lower-quality recall changed the model ranking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4F499903-B0B8-4A4C-9D56-BBA331EA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13C2D1A-8040-4A6B-8F6E-BCB4F56E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239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0a80b5eaf94a60"/>
          </a:graphicData>
        </a:graphic>
      </p:graphicFrame>
      <p:sp>
        <p:nvSpPr>
          <p:cNvPr id="6" name="recall-panel">
            <a:extLst xmlns:a="http://schemas.openxmlformats.org/drawingml/2006/main">
              <a:ext uri="{FF2B5EF4-FFF2-40B4-BE49-F238E27FC236}">
                <a16:creationId xmlns:a16="http://schemas.microsoft.com/office/drawing/2014/main" id="{EA39AE7B-2592-4A3C-ACA6-BB48E96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24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all-title">
            <a:extLst xmlns:a="http://schemas.openxmlformats.org/drawingml/2006/main">
              <a:ext uri="{FF2B5EF4-FFF2-40B4-BE49-F238E27FC236}">
                <a16:creationId xmlns:a16="http://schemas.microsoft.com/office/drawing/2014/main" id="{35754E88-5950-427F-B6AC-5D251CD8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65D"/>
                </a:solidFill>
              </a:defRPr>
            </a:pPr>
            <a:r>
              <a:rPr sz="1875" b="1">
                <a:solidFill>
                  <a:srgbClr val="17365D"/>
                </a:solidFill>
              </a:rPr>
              <a:t>Recall asks</a:t>
            </a:r>
          </a:p>
        </p:txBody>
      </p:sp>
      <p:sp>
        <p:nvSpPr>
          <p:cNvPr id="8" name="recall-question">
            <a:extLst xmlns:a="http://schemas.openxmlformats.org/drawingml/2006/main">
              <a:ext uri="{FF2B5EF4-FFF2-40B4-BE49-F238E27FC236}">
                <a16:creationId xmlns:a16="http://schemas.microsoft.com/office/drawing/2014/main" id="{4877F04E-D983-4E55-9CDA-1D9D371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Of all genuinely lower-quality wines, how many did the model detect?</a:t>
            </a:r>
          </a:p>
        </p:txBody>
      </p:sp>
      <p:sp>
        <p:nvSpPr>
          <p:cNvPr id="9" name="recall-result">
            <a:extLst xmlns:a="http://schemas.openxmlformats.org/drawingml/2006/main">
              <a:ext uri="{FF2B5EF4-FFF2-40B4-BE49-F238E27FC236}">
                <a16:creationId xmlns:a16="http://schemas.microsoft.com/office/drawing/2014/main" id="{B1720AB1-D7FC-4E94-9E91-684EE3D0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7D31"/>
                </a:solidFill>
              </a:defRPr>
            </a:pPr>
            <a:r>
              <a:rPr sz="1725" b="1">
                <a:solidFill>
                  <a:srgbClr val="ED7D31"/>
                </a:solidFill>
              </a:rPr>
              <a:t>Tuned RF: 65%</a:t>
            </a:r>
          </a:p>
        </p:txBody>
      </p:sp>
      <p:sp>
        <p:nvSpPr>
          <p:cNvPr id="10" name="accuracy-context">
            <a:extLst xmlns:a="http://schemas.openxmlformats.org/drawingml/2006/main">
              <a:ext uri="{FF2B5EF4-FFF2-40B4-BE49-F238E27FC236}">
                <a16:creationId xmlns:a16="http://schemas.microsoft.com/office/drawing/2014/main" id="{D81F7DCE-2B1D-4AE9-80ED-49F58D2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48235"/>
                </a:solidFill>
              </a:defRPr>
            </a:pPr>
            <a:r>
              <a:rPr sz="1425" b="1">
                <a:solidFill>
                  <a:srgbClr val="548235"/>
                </a:solidFill>
              </a:rPr>
              <a:t>Accuracy remains highest for tuned Gradient Boosting.</a:t>
            </a:r>
          </a:p>
        </p:txBody>
      </p:sp>
    </p:spTree>
    <p:extLst>
      <p:ext uri="{BB962C8B-B14F-4D97-AF65-F5344CB8AC3E}">
        <p14:creationId xmlns:p14="http://schemas.microsoft.com/office/powerpoint/2010/main" val="937117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A7EAAC76-24F1-40C4-901A-F76770E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DD246A6-C4E7-4B4C-B945-18F75D5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Threshold 0.68 trades accuracy for stronger quality control</a:t>
            </a:r>
          </a:p>
        </p:txBody>
      </p:sp>
      <p:sp>
        <p:nvSpPr>
          <p:cNvPr id="3" name="rule-72-165">
            <a:extLst xmlns:a="http://schemas.openxmlformats.org/drawingml/2006/main">
              <a:ext uri="{FF2B5EF4-FFF2-40B4-BE49-F238E27FC236}">
                <a16:creationId xmlns:a16="http://schemas.microsoft.com/office/drawing/2014/main" id="{1E70F25F-C3B9-49DD-8A16-08A00DE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80E4A0B0-9BC7-44BF-A99F-F7B0925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default-head">
            <a:extLst xmlns:a="http://schemas.openxmlformats.org/drawingml/2006/main">
              <a:ext uri="{FF2B5EF4-FFF2-40B4-BE49-F238E27FC236}">
                <a16:creationId xmlns:a16="http://schemas.microsoft.com/office/drawing/2014/main" id="{20413AE1-69D5-43F9-A8DC-961DADE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Default threshold 0.50</a:t>
            </a:r>
          </a:p>
        </p:txBody>
      </p:sp>
      <p:sp>
        <p:nvSpPr>
          <p:cNvPr id="6" name="default-acc-panel">
            <a:extLst xmlns:a="http://schemas.openxmlformats.org/drawingml/2006/main">
              <a:ext uri="{FF2B5EF4-FFF2-40B4-BE49-F238E27FC236}">
                <a16:creationId xmlns:a16="http://schemas.microsoft.com/office/drawing/2014/main" id="{0943FCC9-72F8-4A1F-BE83-58C1DFF1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fault-acc-accent">
            <a:extLst xmlns:a="http://schemas.openxmlformats.org/drawingml/2006/main">
              <a:ext uri="{FF2B5EF4-FFF2-40B4-BE49-F238E27FC236}">
                <a16:creationId xmlns:a16="http://schemas.microsoft.com/office/drawing/2014/main" id="{959115E7-E4FF-43EE-B7F2-A354861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fault-acc-value">
            <a:extLst xmlns:a="http://schemas.openxmlformats.org/drawingml/2006/main">
              <a:ext uri="{FF2B5EF4-FFF2-40B4-BE49-F238E27FC236}">
                <a16:creationId xmlns:a16="http://schemas.microsoft.com/office/drawing/2014/main" id="{02C2FCF8-FA45-4B5D-83F3-A59B513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76.67%</a:t>
            </a:r>
          </a:p>
        </p:txBody>
      </p:sp>
      <p:sp>
        <p:nvSpPr>
          <p:cNvPr id="9" name="default-acc-label">
            <a:extLst xmlns:a="http://schemas.openxmlformats.org/drawingml/2006/main">
              <a:ext uri="{FF2B5EF4-FFF2-40B4-BE49-F238E27FC236}">
                <a16:creationId xmlns:a16="http://schemas.microsoft.com/office/drawing/2014/main" id="{D6DCA6A0-7D95-4E0E-B1E9-7DFB4B7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test accuracy</a:t>
            </a:r>
          </a:p>
        </p:txBody>
      </p:sp>
      <p:sp>
        <p:nvSpPr>
          <p:cNvPr id="10" name="default-rec-panel">
            <a:extLst xmlns:a="http://schemas.openxmlformats.org/drawingml/2006/main">
              <a:ext uri="{FF2B5EF4-FFF2-40B4-BE49-F238E27FC236}">
                <a16:creationId xmlns:a16="http://schemas.microsoft.com/office/drawing/2014/main" id="{76772BC6-8508-4966-A031-E83F1D8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fault-rec-accent">
            <a:extLst xmlns:a="http://schemas.openxmlformats.org/drawingml/2006/main">
              <a:ext uri="{FF2B5EF4-FFF2-40B4-BE49-F238E27FC236}">
                <a16:creationId xmlns:a16="http://schemas.microsoft.com/office/drawing/2014/main" id="{1281FB59-4842-4E18-960D-799265C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fault-rec-value">
            <a:extLst xmlns:a="http://schemas.openxmlformats.org/drawingml/2006/main">
              <a:ext uri="{FF2B5EF4-FFF2-40B4-BE49-F238E27FC236}">
                <a16:creationId xmlns:a16="http://schemas.microsoft.com/office/drawing/2014/main" id="{B08F1AD0-6AAC-43E1-A20A-13A895A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670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60.74%</a:t>
            </a:r>
          </a:p>
        </p:txBody>
      </p:sp>
      <p:sp>
        <p:nvSpPr>
          <p:cNvPr id="13" name="default-rec-label">
            <a:extLst xmlns:a="http://schemas.openxmlformats.org/drawingml/2006/main">
              <a:ext uri="{FF2B5EF4-FFF2-40B4-BE49-F238E27FC236}">
                <a16:creationId xmlns:a16="http://schemas.microsoft.com/office/drawing/2014/main" id="{57F75DC3-252D-4BFD-83C1-3EE9258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3623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lower-quality recall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DCC11EA4-809D-403A-BD8A-D669958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5B6573"/>
                </a:solidFill>
              </a:defRPr>
            </a:pPr>
            <a:r>
              <a:rPr sz="3000" b="1">
                <a:solidFill>
                  <a:srgbClr val="5B6573"/>
                </a:solidFill>
              </a:rPr>
              <a:t>-&gt;</a:t>
            </a:r>
          </a:p>
        </p:txBody>
      </p:sp>
      <p:sp>
        <p:nvSpPr>
          <p:cNvPr id="15" name="adjust-head">
            <a:extLst xmlns:a="http://schemas.openxmlformats.org/drawingml/2006/main">
              <a:ext uri="{FF2B5EF4-FFF2-40B4-BE49-F238E27FC236}">
                <a16:creationId xmlns:a16="http://schemas.microsoft.com/office/drawing/2014/main" id="{DE9AB77B-CAFB-4DBD-B8D3-74A5A74D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3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Quality-control threshold 0.68</a:t>
            </a:r>
          </a:p>
        </p:txBody>
      </p:sp>
      <p:sp>
        <p:nvSpPr>
          <p:cNvPr id="16" name="adjust-acc-panel">
            <a:extLst xmlns:a="http://schemas.openxmlformats.org/drawingml/2006/main">
              <a:ext uri="{FF2B5EF4-FFF2-40B4-BE49-F238E27FC236}">
                <a16:creationId xmlns:a16="http://schemas.microsoft.com/office/drawing/2014/main" id="{FED21C81-61D8-4DE5-8BFE-B5243A4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djust-acc-accent">
            <a:extLst xmlns:a="http://schemas.openxmlformats.org/drawingml/2006/main">
              <a:ext uri="{FF2B5EF4-FFF2-40B4-BE49-F238E27FC236}">
                <a16:creationId xmlns:a16="http://schemas.microsoft.com/office/drawing/2014/main" id="{1915C8BC-C6FE-46B5-B0AE-448CEA5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djust-acc-value">
            <a:extLst xmlns:a="http://schemas.openxmlformats.org/drawingml/2006/main">
              <a:ext uri="{FF2B5EF4-FFF2-40B4-BE49-F238E27FC236}">
                <a16:creationId xmlns:a16="http://schemas.microsoft.com/office/drawing/2014/main" id="{32C301EF-0CDC-4E0A-AEA2-70E0FF42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71.88%</a:t>
            </a:r>
          </a:p>
        </p:txBody>
      </p:sp>
      <p:sp>
        <p:nvSpPr>
          <p:cNvPr id="19" name="adjust-acc-label">
            <a:extLst xmlns:a="http://schemas.openxmlformats.org/drawingml/2006/main">
              <a:ext uri="{FF2B5EF4-FFF2-40B4-BE49-F238E27FC236}">
                <a16:creationId xmlns:a16="http://schemas.microsoft.com/office/drawing/2014/main" id="{F4B5286D-4669-43C1-BBB2-36F5908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test accuracy</a:t>
            </a:r>
          </a:p>
        </p:txBody>
      </p:sp>
      <p:sp>
        <p:nvSpPr>
          <p:cNvPr id="20" name="adjust-rec-panel">
            <a:extLst xmlns:a="http://schemas.openxmlformats.org/drawingml/2006/main">
              <a:ext uri="{FF2B5EF4-FFF2-40B4-BE49-F238E27FC236}">
                <a16:creationId xmlns:a16="http://schemas.microsoft.com/office/drawing/2014/main" id="{57FC20BA-AC8C-4525-8107-B5A5B3D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28875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just-rec-accent">
            <a:extLst xmlns:a="http://schemas.openxmlformats.org/drawingml/2006/main">
              <a:ext uri="{FF2B5EF4-FFF2-40B4-BE49-F238E27FC236}">
                <a16:creationId xmlns:a16="http://schemas.microsoft.com/office/drawing/2014/main" id="{4C3388B5-1FDE-4EB2-A026-319C79AE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2887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djust-rec-value">
            <a:extLst xmlns:a="http://schemas.openxmlformats.org/drawingml/2006/main">
              <a:ext uri="{FF2B5EF4-FFF2-40B4-BE49-F238E27FC236}">
                <a16:creationId xmlns:a16="http://schemas.microsoft.com/office/drawing/2014/main" id="{F18B8FB9-6016-4F57-9BF9-783D34D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670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76.67%</a:t>
            </a:r>
          </a:p>
        </p:txBody>
      </p:sp>
      <p:sp>
        <p:nvSpPr>
          <p:cNvPr id="23" name="adjust-rec-label">
            <a:extLst xmlns:a="http://schemas.openxmlformats.org/drawingml/2006/main">
              <a:ext uri="{FF2B5EF4-FFF2-40B4-BE49-F238E27FC236}">
                <a16:creationId xmlns:a16="http://schemas.microsoft.com/office/drawing/2014/main" id="{F15C3058-23C7-44B8-BB38-BF5B76F1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3623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lower-quality recall</a:t>
            </a:r>
          </a:p>
        </p:txBody>
      </p:sp>
      <p:sp>
        <p:nvSpPr>
          <p:cNvPr id="24" name="tradeoff-callout">
            <a:extLst xmlns:a="http://schemas.openxmlformats.org/drawingml/2006/main">
              <a:ext uri="{FF2B5EF4-FFF2-40B4-BE49-F238E27FC236}">
                <a16:creationId xmlns:a16="http://schemas.microsoft.com/office/drawing/2014/main" id="{A05764F1-B4BC-4762-8AFB-102F5C0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adeoff-text">
            <a:extLst xmlns:a="http://schemas.openxmlformats.org/drawingml/2006/main">
              <a:ext uri="{FF2B5EF4-FFF2-40B4-BE49-F238E27FC236}">
                <a16:creationId xmlns:a16="http://schemas.microsoft.com/office/drawing/2014/main" id="{3EF29DC2-2856-4E3E-A5FD-5C8E4C01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+15.93 points in lower-quality recall    |    -4.79 points in overall accuracy</a:t>
            </a:r>
          </a:p>
        </p:txBody>
      </p:sp>
    </p:spTree>
    <p:extLst>
      <p:ext uri="{BB962C8B-B14F-4D97-AF65-F5344CB8AC3E}">
        <p14:creationId xmlns:p14="http://schemas.microsoft.com/office/powerpoint/2010/main" val="1087078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9">
            <a:extLst xmlns:a="http://schemas.openxmlformats.org/drawingml/2006/main">
              <a:ext uri="{FF2B5EF4-FFF2-40B4-BE49-F238E27FC236}">
                <a16:creationId xmlns:a16="http://schemas.microsoft.com/office/drawing/2014/main" id="{7F668A22-258F-4692-9039-F04E0E6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39B4DB3-C22A-40C9-9876-3049E96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The accuracy interval remains entirely above 70%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98EC8C83-D750-4B19-BA40-4890A427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C9A5EAB3-865C-4EDA-A75C-99F6707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ci-label">
            <a:extLst xmlns:a="http://schemas.openxmlformats.org/drawingml/2006/main">
              <a:ext uri="{FF2B5EF4-FFF2-40B4-BE49-F238E27FC236}">
                <a16:creationId xmlns:a16="http://schemas.microsoft.com/office/drawing/2014/main" id="{28DE7C22-A4D9-4E32-8CAD-230E820C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95% bootstrap confidence interval</a:t>
            </a:r>
          </a:p>
        </p:txBody>
      </p:sp>
      <p:sp>
        <p:nvSpPr>
          <p:cNvPr id="6" name="rule-130-330">
            <a:extLst xmlns:a="http://schemas.openxmlformats.org/drawingml/2006/main">
              <a:ext uri="{FF2B5EF4-FFF2-40B4-BE49-F238E27FC236}">
                <a16:creationId xmlns:a16="http://schemas.microsoft.com/office/drawing/2014/main" id="{25641B5B-1D7D-4197-AA78-8B68F15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885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-range">
            <a:extLst xmlns:a="http://schemas.openxmlformats.org/drawingml/2006/main">
              <a:ext uri="{FF2B5EF4-FFF2-40B4-BE49-F238E27FC236}">
                <a16:creationId xmlns:a16="http://schemas.microsoft.com/office/drawing/2014/main" id="{04AD25E8-802A-460F-9801-0422547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54006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al-marker">
            <a:extLst xmlns:a="http://schemas.openxmlformats.org/drawingml/2006/main">
              <a:ext uri="{FF2B5EF4-FFF2-40B4-BE49-F238E27FC236}">
                <a16:creationId xmlns:a16="http://schemas.microsoft.com/office/drawing/2014/main" id="{AD25F7D1-3DC1-47BF-B11D-C8C1E0FA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47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stimate-marker">
            <a:extLst xmlns:a="http://schemas.openxmlformats.org/drawingml/2006/main">
              <a:ext uri="{FF2B5EF4-FFF2-40B4-BE49-F238E27FC236}">
                <a16:creationId xmlns:a16="http://schemas.microsoft.com/office/drawing/2014/main" id="{85ABAC7B-2235-4A68-AD9C-CB660A43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70">
            <a:extLst xmlns:a="http://schemas.openxmlformats.org/drawingml/2006/main">
              <a:ext uri="{FF2B5EF4-FFF2-40B4-BE49-F238E27FC236}">
                <a16:creationId xmlns:a16="http://schemas.microsoft.com/office/drawing/2014/main" id="{147EBF8F-B758-4F35-804C-357ED8E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48235"/>
                </a:solidFill>
              </a:defRPr>
            </a:pPr>
            <a:r>
              <a:rPr sz="1350" b="1">
                <a:solidFill>
                  <a:srgbClr val="548235"/>
                </a:solidFill>
              </a:rPr>
              <a:t>70% objective</a:t>
            </a:r>
          </a:p>
        </p:txBody>
      </p:sp>
      <p:sp>
        <p:nvSpPr>
          <p:cNvPr id="11" name="lower">
            <a:extLst xmlns:a="http://schemas.openxmlformats.org/drawingml/2006/main">
              <a:ext uri="{FF2B5EF4-FFF2-40B4-BE49-F238E27FC236}">
                <a16:creationId xmlns:a16="http://schemas.microsoft.com/office/drawing/2014/main" id="{7E9F6AE9-88D4-4FF5-83FB-1358EE8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242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73.52%</a:t>
            </a:r>
          </a:p>
        </p:txBody>
      </p:sp>
      <p:sp>
        <p:nvSpPr>
          <p:cNvPr id="12" name="estimate">
            <a:extLst xmlns:a="http://schemas.openxmlformats.org/drawingml/2006/main">
              <a:ext uri="{FF2B5EF4-FFF2-40B4-BE49-F238E27FC236}">
                <a16:creationId xmlns:a16="http://schemas.microsoft.com/office/drawing/2014/main" id="{78181047-131A-466F-97F3-24204BE9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76.67% observed</a:t>
            </a:r>
          </a:p>
        </p:txBody>
      </p:sp>
      <p:sp>
        <p:nvSpPr>
          <p:cNvPr id="13" name="upper">
            <a:extLst xmlns:a="http://schemas.openxmlformats.org/drawingml/2006/main">
              <a:ext uri="{FF2B5EF4-FFF2-40B4-BE49-F238E27FC236}">
                <a16:creationId xmlns:a16="http://schemas.microsoft.com/office/drawing/2014/main" id="{F905D1F6-FA24-4D37-B009-EC187FF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79.57%</a:t>
            </a:r>
          </a:p>
        </p:txBody>
      </p:sp>
      <p:sp>
        <p:nvSpPr>
          <p:cNvPr id="14" name="recall-ci">
            <a:extLst xmlns:a="http://schemas.openxmlformats.org/drawingml/2006/main">
              <a:ext uri="{FF2B5EF4-FFF2-40B4-BE49-F238E27FC236}">
                <a16:creationId xmlns:a16="http://schemas.microsoft.com/office/drawing/2014/main" id="{5A70DA4C-4EF8-4EF7-A333-6EC5AA4A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all-ci-label">
            <a:extLst xmlns:a="http://schemas.openxmlformats.org/drawingml/2006/main">
              <a:ext uri="{FF2B5EF4-FFF2-40B4-BE49-F238E27FC236}">
                <a16:creationId xmlns:a16="http://schemas.microsoft.com/office/drawing/2014/main" id="{FB016854-DC06-4AAB-9D7A-CB849BB2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Lower-quality recall</a:t>
            </a:r>
          </a:p>
        </p:txBody>
      </p:sp>
      <p:sp>
        <p:nvSpPr>
          <p:cNvPr id="16" name="recall-ci-value">
            <a:extLst xmlns:a="http://schemas.openxmlformats.org/drawingml/2006/main">
              <a:ext uri="{FF2B5EF4-FFF2-40B4-BE49-F238E27FC236}">
                <a16:creationId xmlns:a16="http://schemas.microsoft.com/office/drawing/2014/main" id="{B26743AE-3144-41FE-B088-D85AE0C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D7D31"/>
                </a:solidFill>
              </a:defRPr>
            </a:pPr>
            <a:r>
              <a:rPr sz="2250" b="1">
                <a:solidFill>
                  <a:srgbClr val="ED7D31"/>
                </a:solidFill>
              </a:rPr>
              <a:t>60.74%</a:t>
            </a:r>
          </a:p>
        </p:txBody>
      </p:sp>
      <p:sp>
        <p:nvSpPr>
          <p:cNvPr id="17" name="recall-ci-range">
            <a:extLst xmlns:a="http://schemas.openxmlformats.org/drawingml/2006/main">
              <a:ext uri="{FF2B5EF4-FFF2-40B4-BE49-F238E27FC236}">
                <a16:creationId xmlns:a16="http://schemas.microsoft.com/office/drawing/2014/main" id="{99449F14-38D1-4E51-AED6-8382E20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95% CI: 54.58% to 66.30%</a:t>
            </a:r>
          </a:p>
        </p:txBody>
      </p:sp>
    </p:spTree>
    <p:extLst>
      <p:ext uri="{BB962C8B-B14F-4D97-AF65-F5344CB8AC3E}">
        <p14:creationId xmlns:p14="http://schemas.microsoft.com/office/powerpoint/2010/main" val="830059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10">
            <a:extLst xmlns:a="http://schemas.openxmlformats.org/drawingml/2006/main">
              <a:ext uri="{FF2B5EF4-FFF2-40B4-BE49-F238E27FC236}">
                <a16:creationId xmlns:a16="http://schemas.microsoft.com/office/drawing/2014/main" id="{D12CD113-2357-42C0-A528-5585822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B4784FE-A077-4CD4-B0D5-3585917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Alcohol leads the explanation - but the surrogate is approximate</a:t>
            </a:r>
          </a:p>
        </p:txBody>
      </p:sp>
      <p:sp>
        <p:nvSpPr>
          <p:cNvPr id="3" name="rule-72-165">
            <a:extLst xmlns:a="http://schemas.openxmlformats.org/drawingml/2006/main">
              <a:ext uri="{FF2B5EF4-FFF2-40B4-BE49-F238E27FC236}">
                <a16:creationId xmlns:a16="http://schemas.microsoft.com/office/drawing/2014/main" id="{F5507F10-4CC3-4C9F-A7BC-E5CDFE2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A644A2FE-1C41-4203-A23B-4416B14B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10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64293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5dc9052b964acb"/>
          </a:graphicData>
        </a:graphic>
      </p:graphicFrame>
      <p:sp>
        <p:nvSpPr>
          <p:cNvPr id="6" name="surrogate-panel">
            <a:extLst xmlns:a="http://schemas.openxmlformats.org/drawingml/2006/main">
              <a:ext uri="{FF2B5EF4-FFF2-40B4-BE49-F238E27FC236}">
                <a16:creationId xmlns:a16="http://schemas.microsoft.com/office/drawing/2014/main" id="{EBC4FDC6-66E6-4695-A0E6-9606335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6957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rogate-label">
            <a:extLst xmlns:a="http://schemas.openxmlformats.org/drawingml/2006/main">
              <a:ext uri="{FF2B5EF4-FFF2-40B4-BE49-F238E27FC236}">
                <a16:creationId xmlns:a16="http://schemas.microsoft.com/office/drawing/2014/main" id="{D2808677-7505-4022-B47A-298D8D41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66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Surrogate Decision Tree</a:t>
            </a:r>
          </a:p>
        </p:txBody>
      </p:sp>
      <p:sp>
        <p:nvSpPr>
          <p:cNvPr id="8" name="fidelity">
            <a:extLst xmlns:a="http://schemas.openxmlformats.org/drawingml/2006/main">
              <a:ext uri="{FF2B5EF4-FFF2-40B4-BE49-F238E27FC236}">
                <a16:creationId xmlns:a16="http://schemas.microsoft.com/office/drawing/2014/main" id="{45639B21-1601-45D0-9BC1-6A060EC5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87.14%</a:t>
            </a:r>
          </a:p>
        </p:txBody>
      </p:sp>
      <p:sp>
        <p:nvSpPr>
          <p:cNvPr id="9" name="fidelity-label">
            <a:extLst xmlns:a="http://schemas.openxmlformats.org/drawingml/2006/main">
              <a:ext uri="{FF2B5EF4-FFF2-40B4-BE49-F238E27FC236}">
                <a16:creationId xmlns:a16="http://schemas.microsoft.com/office/drawing/2014/main" id="{EA63914F-8149-4762-84AD-915E9A69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test fidelity</a:t>
            </a:r>
          </a:p>
        </p:txBody>
      </p:sp>
      <p:sp>
        <p:nvSpPr>
          <p:cNvPr id="10" name="surrogate-features">
            <a:extLst xmlns:a="http://schemas.openxmlformats.org/drawingml/2006/main">
              <a:ext uri="{FF2B5EF4-FFF2-40B4-BE49-F238E27FC236}">
                <a16:creationId xmlns:a16="http://schemas.microsoft.com/office/drawing/2014/main" id="{323A7744-0103-4089-A260-48EF30B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33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Main splits: alcohol, volatile acidity and free sulfur dioxide</a:t>
            </a:r>
          </a:p>
        </p:txBody>
      </p:sp>
      <p:sp>
        <p:nvSpPr>
          <p:cNvPr id="11" name="caution">
            <a:extLst xmlns:a="http://schemas.openxmlformats.org/drawingml/2006/main">
              <a:ext uri="{FF2B5EF4-FFF2-40B4-BE49-F238E27FC236}">
                <a16:creationId xmlns:a16="http://schemas.microsoft.com/office/drawing/2014/main" id="{3564D27F-B9A8-4C41-866F-F3DEAA84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695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7D31"/>
                </a:solidFill>
              </a:defRPr>
            </a:pPr>
            <a:r>
              <a:rPr sz="1350" b="1">
                <a:solidFill>
                  <a:srgbClr val="ED7D31"/>
                </a:solidFill>
              </a:rPr>
              <a:t>Fidelity measures agreement with the complex model - not causal truth.</a:t>
            </a:r>
          </a:p>
        </p:txBody>
      </p:sp>
    </p:spTree>
    <p:extLst>
      <p:ext uri="{BB962C8B-B14F-4D97-AF65-F5344CB8AC3E}">
        <p14:creationId xmlns:p14="http://schemas.microsoft.com/office/powerpoint/2010/main" val="1718561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1">
            <a:extLst xmlns:a="http://schemas.openxmlformats.org/drawingml/2006/main">
              <a:ext uri="{FF2B5EF4-FFF2-40B4-BE49-F238E27FC236}">
                <a16:creationId xmlns:a16="http://schemas.microsoft.com/office/drawing/2014/main" id="{D5C9A5DC-0753-40A0-8E07-06B74280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WHITE WINE QUALITY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896F7FC-73C0-4905-8301-D8663602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</a:defRPr>
            </a:pPr>
            <a:r>
              <a:rPr sz="3000" b="1">
                <a:solidFill>
                  <a:srgbClr val="14213D"/>
                </a:solidFill>
              </a:rPr>
              <a:t>The best operating point depends on the cost of errors</a:t>
            </a:r>
          </a:p>
        </p:txBody>
      </p:sp>
      <p:sp>
        <p:nvSpPr>
          <p:cNvPr id="3" name="rule-72-151">
            <a:extLst xmlns:a="http://schemas.openxmlformats.org/drawingml/2006/main">
              <a:ext uri="{FF2B5EF4-FFF2-40B4-BE49-F238E27FC236}">
                <a16:creationId xmlns:a16="http://schemas.microsoft.com/office/drawing/2014/main" id="{8377705D-3597-4B6D-BB77-EDCF57E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55895774-3933-45D7-BDD9-BA50445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</a:defRPr>
            </a:pPr>
            <a:r>
              <a:rPr sz="975" b="1">
                <a:solidFill>
                  <a:srgbClr val="5B6573"/>
                </a:solidFill>
              </a:rPr>
              <a:t>11</a:t>
            </a:r>
          </a:p>
        </p:txBody>
      </p:sp>
      <p:sp>
        <p:nvSpPr>
          <p:cNvPr id="5" name="conclusion">
            <a:extLst xmlns:a="http://schemas.openxmlformats.org/drawingml/2006/main">
              <a:ext uri="{FF2B5EF4-FFF2-40B4-BE49-F238E27FC236}">
                <a16:creationId xmlns:a16="http://schemas.microsoft.com/office/drawing/2014/main" id="{77B134E6-67FA-402D-ABC0-9A6AEC34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76.67%</a:t>
            </a:r>
          </a:p>
        </p:txBody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3978A1F1-F45E-4BE6-AA25-1C468D3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</a:defRPr>
            </a:pPr>
            <a:r>
              <a:rPr sz="1575" b="0">
                <a:solidFill>
                  <a:srgbClr val="5B6573"/>
                </a:solidFill>
              </a:rPr>
              <a:t>best general-purpose test accuracy</a:t>
            </a:r>
          </a:p>
        </p:txBody>
      </p:sp>
      <p:sp>
        <p:nvSpPr>
          <p:cNvPr id="7" name="rule-72-350">
            <a:extLst xmlns:a="http://schemas.openxmlformats.org/drawingml/2006/main">
              <a:ext uri="{FF2B5EF4-FFF2-40B4-BE49-F238E27FC236}">
                <a16:creationId xmlns:a16="http://schemas.microsoft.com/office/drawing/2014/main" id="{E2794D0D-6862-415E-BE6F-6A6E660D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keaways">
            <a:extLst xmlns:a="http://schemas.openxmlformats.org/drawingml/2006/main">
              <a:ext uri="{FF2B5EF4-FFF2-40B4-BE49-F238E27FC236}">
                <a16:creationId xmlns:a16="http://schemas.microsoft.com/office/drawing/2014/main" id="{90244197-1B0B-4D3E-8A86-B9181C9F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Three conclusions</a:t>
            </a:r>
          </a:p>
        </p:txBody>
      </p:sp>
      <p:sp>
        <p:nvSpPr>
          <p:cNvPr id="9" name="takeaway-list">
            <a:extLst xmlns:a="http://schemas.openxmlformats.org/drawingml/2006/main">
              <a:ext uri="{FF2B5EF4-FFF2-40B4-BE49-F238E27FC236}">
                <a16:creationId xmlns:a16="http://schemas.microsoft.com/office/drawing/2014/main" id="{5A22A7A3-3B33-4891-87E8-90D82A3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5619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1. Tuned Gradient Boosting is the final general-purpose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2. Threshold 0.68 raises lower-quality recall to 76.67%.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3. External validation is required before real deployment.</a:t>
            </a:r>
          </a:p>
        </p:txBody>
      </p:sp>
      <p:sp>
        <p:nvSpPr>
          <p:cNvPr id="10" name="closing">
            <a:extLst xmlns:a="http://schemas.openxmlformats.org/drawingml/2006/main">
              <a:ext uri="{FF2B5EF4-FFF2-40B4-BE49-F238E27FC236}">
                <a16:creationId xmlns:a16="http://schemas.microsoft.com/office/drawing/2014/main" id="{A5BE1A9B-60EB-4ED5-9FE9-CC9D37A6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D9011AAE-BDF5-447B-A2D4-618CB1DE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Machine learning supports quality screening; it does not replace sensory expertise.</a:t>
            </a:r>
          </a:p>
        </p:txBody>
      </p:sp>
      <p:sp>
        <p:nvSpPr>
          <p:cNvPr id="12" name="thanks">
            <a:extLst xmlns:a="http://schemas.openxmlformats.org/drawingml/2006/main">
              <a:ext uri="{FF2B5EF4-FFF2-40B4-BE49-F238E27FC236}">
                <a16:creationId xmlns:a16="http://schemas.microsoft.com/office/drawing/2014/main" id="{F44001CB-6433-49D0-83A8-08DFA1F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8235"/>
                </a:solidFill>
              </a:defRPr>
            </a:pPr>
            <a:r>
              <a:rPr sz="1500" b="1">
                <a:solidFill>
                  <a:srgbClr val="548235"/>
                </a:solidFill>
              </a:rPr>
              <a:t>Thank you - questions are welcome</a:t>
            </a:r>
          </a:p>
        </p:txBody>
      </p:sp>
    </p:spTree>
    <p:extLst>
      <p:ext uri="{BB962C8B-B14F-4D97-AF65-F5344CB8AC3E}">
        <p14:creationId xmlns:p14="http://schemas.microsoft.com/office/powerpoint/2010/main" val="750409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2026-09-04T12:22:01.4560000Z</dcterms:created>
  <dcterms:modified xsi:type="dcterms:W3CDTF">2026-09-04T12:22:01.4560000Z</dcterms:modified>
</coreProperties>
</file>