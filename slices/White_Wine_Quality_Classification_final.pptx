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YS9M5q7aTmmsXZOoaK3/gxSou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Baseline</c:v>
              </c:pt>
              <c:pt idx="1">
                <c:v>Unscaled KNN
k=10</c:v>
              </c:pt>
              <c:pt idx="2">
                <c:v>Normalized KNN
k=5</c:v>
              </c:pt>
              <c:pt idx="3">
                <c:v>Tuned KNN</c:v>
              </c:pt>
            </c:strLit>
          </c:cat>
          <c:val>
            <c:numLit>
              <c:formatCode>General</c:formatCode>
              <c:ptCount val="4"/>
              <c:pt idx="0">
                <c:v>65.95</c:v>
              </c:pt>
              <c:pt idx="1">
                <c:v>67.84</c:v>
              </c:pt>
              <c:pt idx="2">
                <c:v>73.27</c:v>
              </c:pt>
              <c:pt idx="3">
                <c:v>75.16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Baseline</c:v>
              </c:pt>
              <c:pt idx="1">
                <c:v>KNN unscaled</c:v>
              </c:pt>
              <c:pt idx="2">
                <c:v>KNN normalized</c:v>
              </c:pt>
              <c:pt idx="3">
                <c:v>Tuned KNN</c:v>
              </c:pt>
              <c:pt idx="4">
                <c:v>Random Forest</c:v>
              </c:pt>
              <c:pt idx="5">
                <c:v>Gradient Boosting</c:v>
              </c:pt>
            </c:strLit>
          </c:cat>
          <c:val>
            <c:numLit>
              <c:formatCode>General</c:formatCode>
              <c:ptCount val="6"/>
              <c:pt idx="0">
                <c:v>65.95</c:v>
              </c:pt>
              <c:pt idx="1">
                <c:v>67.84</c:v>
              </c:pt>
              <c:pt idx="2">
                <c:v>73.27</c:v>
              </c:pt>
              <c:pt idx="3">
                <c:v>75.16</c:v>
              </c:pt>
              <c:pt idx="4">
                <c:v>76.29</c:v>
              </c:pt>
              <c:pt idx="5">
                <c:v>76.67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67.49</c:v>
              </c:pt>
              <c:pt idx="1">
                <c:v>63</c:v>
              </c:pt>
              <c:pt idx="2">
                <c:v>67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ED7D31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60.74</c:v>
              </c:pt>
              <c:pt idx="1">
                <c:v>65</c:v>
              </c:pt>
              <c:pt idx="2">
                <c:v>54</c:v>
              </c:pt>
            </c:numLit>
          </c:val>
        </c:ser>
        <c:ser>
          <c:idx val="2"/>
          <c:order val="2"/>
          <c:tx>
            <c:v>F1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63.94</c:v>
              </c:pt>
              <c:pt idx="1">
                <c:v>64</c:v>
              </c:pt>
              <c:pt idx="2">
                <c:v>60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Random Forest importance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Alcohol</c:v>
              </c:pt>
              <c:pt idx="1">
                <c:v>Density</c:v>
              </c:pt>
              <c:pt idx="2">
                <c:v>Volatile acidity</c:v>
              </c:pt>
              <c:pt idx="3">
                <c:v>Free SO2</c:v>
              </c:pt>
              <c:pt idx="4">
                <c:v>Total sulfur dioxide</c:v>
              </c:pt>
              <c:pt idx="5">
                <c:v>Chlorides</c:v>
              </c:pt>
            </c:strLit>
          </c:cat>
          <c:val>
            <c:numLit>
              <c:formatCode>General</c:formatCode>
              <c:ptCount val="6"/>
              <c:pt idx="0">
                <c:v>16.09</c:v>
              </c:pt>
              <c:pt idx="1">
                <c:v>12.41</c:v>
              </c:pt>
              <c:pt idx="2">
                <c:v>10.12</c:v>
              </c:pt>
              <c:pt idx="3">
                <c:v>10.06</c:v>
              </c:pt>
              <c:pt idx="4">
                <c:v>8.47</c:v>
              </c:pt>
              <c:pt idx="5">
                <c:v>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https://archive.ics.uci.edu/dataset/186/wine+quality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https://archive.ics.uci.edu/dataset/186/wine+quality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Project notebook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x.doi.org/10.1016/j.dss.2009.05.01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5BDF1"/>
            </a:gs>
            <a:gs pos="100000">
              <a:srgbClr val="116F93"/>
            </a:gs>
          </a:gsLst>
          <a:lin ang="5400012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14400" y="78105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41300" y="1123950"/>
            <a:ext cx="7429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750">
                <a:solidFill>
                  <a:schemeClr val="lt1"/>
                </a:solidFill>
              </a:rPr>
              <a:t>White Wine Quality Classification</a:t>
            </a:r>
            <a:endParaRPr b="1" sz="5400">
              <a:solidFill>
                <a:srgbClr val="FFFFFF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41300" y="2895600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CAN MACHINES “TASTE” WINE QUALITY?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</a:endParaRPr>
          </a:p>
          <a:p>
            <a:pPr indent="-36036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75"/>
              <a:buChar char="-"/>
            </a:pPr>
            <a:r>
              <a:rPr b="1" lang="en-US" sz="2075">
                <a:solidFill>
                  <a:schemeClr val="lt1"/>
                </a:solidFill>
              </a:rPr>
              <a:t>Using physicochemical measurements to support a quality-screening decision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52500" y="4534275"/>
            <a:ext cx="2095500" cy="76200"/>
          </a:xfrm>
          <a:prstGeom prst="rect">
            <a:avLst/>
          </a:prstGeom>
          <a:solidFill>
            <a:srgbClr val="D6A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52500" y="4762500"/>
            <a:ext cx="6561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4213D"/>
                </a:solidFill>
              </a:rPr>
              <a:t>Angelica Roa, Project Manager  |  Paul Obamwonyi, Analyst</a:t>
            </a:r>
            <a:endParaRPr sz="1500"/>
          </a:p>
        </p:txBody>
      </p:sp>
      <p:sp>
        <p:nvSpPr>
          <p:cNvPr id="21" name="Google Shape;21;p1"/>
          <p:cNvSpPr/>
          <p:nvPr/>
        </p:nvSpPr>
        <p:spPr>
          <a:xfrm>
            <a:off x="9191625" y="1571625"/>
            <a:ext cx="2190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FFFF"/>
                </a:solidFill>
              </a:rPr>
              <a:t>76.67%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91625" y="232410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</a:rPr>
              <a:t>final test accuracy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191625" y="2952750"/>
            <a:ext cx="2190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</a:rPr>
              <a:t>70% objective exceeded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52100" y="83820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3D8DFF"/>
                </a:solidFill>
              </a:rPr>
              <a:t>MAIN QUESTION</a:t>
            </a:r>
            <a:endParaRPr b="1" sz="2800"/>
          </a:p>
        </p:txBody>
      </p:sp>
      <p:sp>
        <p:nvSpPr>
          <p:cNvPr id="30" name="Google Shape;30;p2"/>
          <p:cNvSpPr/>
          <p:nvPr/>
        </p:nvSpPr>
        <p:spPr>
          <a:xfrm>
            <a:off x="1037600" y="4700638"/>
            <a:ext cx="7534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13D"/>
                </a:solidFill>
              </a:rPr>
              <a:t>A screening model must be accurate and responsible, this model is fit to data from </a:t>
            </a:r>
            <a:r>
              <a:rPr b="1" lang="en-US" sz="2100">
                <a:solidFill>
                  <a:srgbClr val="14213D"/>
                </a:solidFill>
              </a:rPr>
              <a:t>Portuguese</a:t>
            </a:r>
            <a:r>
              <a:rPr b="1" lang="en-US" sz="2100">
                <a:solidFill>
                  <a:srgbClr val="14213D"/>
                </a:solidFill>
              </a:rPr>
              <a:t> Vino Verde</a:t>
            </a:r>
            <a:endParaRPr sz="500"/>
          </a:p>
        </p:txBody>
      </p:sp>
      <p:sp>
        <p:nvSpPr>
          <p:cNvPr id="31" name="Google Shape;31;p2"/>
          <p:cNvSpPr/>
          <p:nvPr/>
        </p:nvSpPr>
        <p:spPr>
          <a:xfrm>
            <a:off x="685800" y="1438275"/>
            <a:ext cx="10820400" cy="192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02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85800" y="1790700"/>
            <a:ext cx="7982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14213D"/>
                </a:solidFill>
              </a:rPr>
              <a:t>Can 11 physicochemical properties predict whether a white wine is lower quality or acceptable/higher quality?</a:t>
            </a:r>
            <a:endParaRPr sz="1600"/>
          </a:p>
        </p:txBody>
      </p:sp>
      <p:sp>
        <p:nvSpPr>
          <p:cNvPr id="34" name="Google Shape;34;p2"/>
          <p:cNvSpPr/>
          <p:nvPr/>
        </p:nvSpPr>
        <p:spPr>
          <a:xfrm>
            <a:off x="8667750" y="1809750"/>
            <a:ext cx="2838450" cy="238125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029700" y="2771750"/>
            <a:ext cx="2095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3D8DFF"/>
                </a:solidFill>
              </a:rPr>
              <a:t>70%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9010650" y="3840900"/>
            <a:ext cx="2133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4213D"/>
                </a:solidFill>
              </a:rPr>
              <a:t>M</a:t>
            </a:r>
            <a:r>
              <a:rPr b="1" lang="en-US" sz="1575">
                <a:solidFill>
                  <a:srgbClr val="14213D"/>
                </a:solidFill>
              </a:rPr>
              <a:t>inimum test-accuracy objective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3245675"/>
            <a:ext cx="75348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B6573"/>
                </a:solidFill>
              </a:rPr>
              <a:t>T</a:t>
            </a:r>
            <a:r>
              <a:rPr b="1" lang="en-US" sz="1850">
                <a:solidFill>
                  <a:srgbClr val="5B6573"/>
                </a:solidFill>
              </a:rPr>
              <a:t>he objective is to develop a classification model that predicts whether a white wine belongs to the lower-quality class or the acceptable/higher-quality class based on its physicochemical properties</a:t>
            </a:r>
            <a:r>
              <a:rPr b="1" lang="en-US" sz="1650">
                <a:solidFill>
                  <a:srgbClr val="5B6573"/>
                </a:solidFill>
              </a:rPr>
              <a:t>.</a:t>
            </a:r>
            <a:endParaRPr b="1"/>
          </a:p>
        </p:txBody>
      </p:sp>
      <p:sp>
        <p:nvSpPr>
          <p:cNvPr id="38" name="Google Shape;38;p2"/>
          <p:cNvSpPr/>
          <p:nvPr/>
        </p:nvSpPr>
        <p:spPr>
          <a:xfrm>
            <a:off x="4918525" y="5846650"/>
            <a:ext cx="5539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48235"/>
                </a:solidFill>
              </a:rPr>
              <a:t>Decision support - not a replacement for sensory experts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52100" y="57150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771525" y="390525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13D"/>
                </a:solidFill>
              </a:rPr>
              <a:t>Cleaning left 3,961 unique white-wine records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03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85800" y="1905000"/>
            <a:ext cx="3048000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85800" y="1905000"/>
            <a:ext cx="85725" cy="16192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52500" y="2143125"/>
            <a:ext cx="257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4,898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952500" y="283845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original observations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933825" y="2352675"/>
            <a:ext cx="523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B6573"/>
                </a:solidFill>
              </a:rPr>
              <a:t>-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648200" y="1905000"/>
            <a:ext cx="3048000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648200" y="1905000"/>
            <a:ext cx="85725" cy="16192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914900" y="2143125"/>
            <a:ext cx="257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937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914900" y="283845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duplicate rows removed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896225" y="2352675"/>
            <a:ext cx="523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B6573"/>
                </a:solidFill>
              </a:rPr>
              <a:t>=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8610600" y="1905000"/>
            <a:ext cx="2895600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610600" y="1905000"/>
            <a:ext cx="85725" cy="161925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877300" y="2143125"/>
            <a:ext cx="24193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3,961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877300" y="2838450"/>
            <a:ext cx="2419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cleaned observations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85800" y="4171950"/>
            <a:ext cx="5051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4213D"/>
                </a:solidFill>
              </a:rPr>
              <a:t>11 numeric physicochemical predictors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85800" y="4686300"/>
            <a:ext cx="1000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B6573"/>
                </a:solidFill>
              </a:rPr>
              <a:t>Alcohol  |  Density  |  Acidity  |  Sugar  |  Chlorides  |  Sulfur dioxide  |  pH  |  Sulphates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591550" y="4191000"/>
            <a:ext cx="2914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D8DFF"/>
                </a:solidFill>
              </a:rPr>
              <a:t>No missing values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762000" y="5581650"/>
            <a:ext cx="10820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EAF5FB"/>
                </a:highlight>
              </a:rPr>
              <a:t>P. Cortez, A. Cerdeira, F. Almeida, T. Matos and J. Reis. Modeling wine preferences by data mining from physicochemical properties. In Decision Support Systems, Elsevier, 47(4):547-553. ISSN: 0167-9236.</a:t>
            </a:r>
            <a:endParaRPr sz="1200">
              <a:solidFill>
                <a:srgbClr val="1F1F1F"/>
              </a:solidFill>
              <a:highlight>
                <a:srgbClr val="EAF5FB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EAF5FB"/>
                </a:highlight>
              </a:rPr>
              <a:t>Available at: [@Elsevier] </a:t>
            </a:r>
            <a:r>
              <a:rPr lang="en-US" sz="1200" u="sng">
                <a:solidFill>
                  <a:srgbClr val="0B57D0"/>
                </a:solidFill>
                <a:highlight>
                  <a:srgbClr val="EAF5FB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http://dx.doi.org/10.1016/j.dss.2009.05.016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685800" y="390525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13D"/>
                </a:solidFill>
              </a:rPr>
              <a:t>A stratified split protected the final evaluation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04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85800" y="188595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ED7D31"/>
                </a:solidFill>
              </a:rPr>
              <a:t>Class 0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85800" y="2381250"/>
            <a:ext cx="2952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4213D"/>
                </a:solidFill>
              </a:rPr>
              <a:t>Quality scores 3-5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4213D"/>
                </a:solidFill>
              </a:rPr>
              <a:t>34.03% of cleaned data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095750" y="188595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3D8DFF"/>
                </a:solidFill>
              </a:rPr>
              <a:t>Class 1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095750" y="2381250"/>
            <a:ext cx="314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4213D"/>
                </a:solidFill>
              </a:rPr>
              <a:t>Quality scores 6-9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4213D"/>
                </a:solidFill>
              </a:rPr>
              <a:t>65.97% of cleaned data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85800" y="3524250"/>
            <a:ext cx="6553200" cy="1905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85800" y="3848100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13D"/>
                </a:solidFill>
              </a:rPr>
              <a:t>80% training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85800" y="44386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B6573"/>
                </a:solidFill>
              </a:rPr>
              <a:t>3,168 wines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095750" y="3848100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13D"/>
                </a:solidFill>
              </a:rPr>
              <a:t>20% test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095750" y="44386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B6573"/>
                </a:solidFill>
              </a:rPr>
              <a:t>793 untouched wines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858125" y="1885950"/>
            <a:ext cx="3648075" cy="295275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191500" y="219075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65D"/>
                </a:solidFill>
              </a:rPr>
              <a:t>Leakage prevention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8191500" y="2857500"/>
            <a:ext cx="290512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4213D"/>
                </a:solidFill>
              </a:rPr>
              <a:t>Original quality score excluded from 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75">
              <a:solidFill>
                <a:srgbClr val="1421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4213D"/>
                </a:solidFill>
              </a:rPr>
              <a:t>Scaling fitted on training data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75">
              <a:solidFill>
                <a:srgbClr val="1421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4213D"/>
                </a:solidFill>
              </a:rPr>
              <a:t>Grid Search used training folds only.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85800" y="5429250"/>
            <a:ext cx="981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48235"/>
                </a:solidFill>
              </a:rPr>
              <a:t>Stratification kept class proportions nearly identical across train and test sets.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13D"/>
                </a:solidFill>
              </a:rPr>
              <a:t>Normalization helped KNN cross the 70% objective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05</a:t>
            </a:r>
            <a:endParaRPr/>
          </a:p>
        </p:txBody>
      </p:sp>
      <p:graphicFrame>
        <p:nvGraphicFramePr>
          <p:cNvPr id="98" name="Google Shape;98;p5"/>
          <p:cNvGraphicFramePr/>
          <p:nvPr/>
        </p:nvGraphicFramePr>
        <p:xfrm>
          <a:off x="510175" y="1857375"/>
          <a:ext cx="5590200" cy="3438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9" name="Google Shape;99;p5"/>
          <p:cNvSpPr/>
          <p:nvPr/>
        </p:nvSpPr>
        <p:spPr>
          <a:xfrm>
            <a:off x="6883475" y="1618850"/>
            <a:ext cx="4622700" cy="33237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94925" y="5295375"/>
            <a:ext cx="27162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213D"/>
                </a:solidFill>
              </a:rPr>
              <a:t>Scaling</a:t>
            </a:r>
            <a:r>
              <a:rPr lang="en-US" sz="1650">
                <a:solidFill>
                  <a:srgbClr val="14213D"/>
                </a:solidFill>
              </a:rPr>
              <a:t>: </a:t>
            </a:r>
            <a:r>
              <a:rPr b="0" lang="en-US" sz="1650">
                <a:solidFill>
                  <a:srgbClr val="14213D"/>
                </a:solidFill>
              </a:rPr>
              <a:t>KNN uses distances. Features with large numeric ranges can dominate unless scales are aligned.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437475" y="4942550"/>
            <a:ext cx="19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D7D31"/>
                </a:solidFill>
              </a:rPr>
              <a:t>Data Balance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367700" y="5258550"/>
            <a:ext cx="50625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40" lvl="0" marL="80372" marR="324004" rtl="0" algn="l">
              <a:lnSpc>
                <a:spcPct val="121479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0242A"/>
                </a:solidFill>
              </a:rPr>
              <a:t>The imbalance was moderate, not extreme. We preserved the observed distribution and addressed class performance through stratification and profit from it </a:t>
            </a:r>
            <a:r>
              <a:rPr lang="en-US">
                <a:solidFill>
                  <a:srgbClr val="20242A"/>
                </a:solidFill>
              </a:rPr>
              <a:t>to set </a:t>
            </a:r>
            <a:r>
              <a:rPr lang="en-US">
                <a:solidFill>
                  <a:srgbClr val="20242A"/>
                </a:solidFill>
              </a:rPr>
              <a:t>the</a:t>
            </a:r>
            <a:r>
              <a:rPr lang="en-US">
                <a:solidFill>
                  <a:srgbClr val="20242A"/>
                </a:solidFill>
              </a:rPr>
              <a:t> Ba</a:t>
            </a:r>
            <a:r>
              <a:rPr lang="en-US">
                <a:solidFill>
                  <a:srgbClr val="20242A"/>
                </a:solidFill>
              </a:rPr>
              <a:t>seline. Our Label is Acceptable-High quality. Lower-quality will need to be further analyzed.</a:t>
            </a:r>
            <a:endParaRPr/>
          </a:p>
        </p:txBody>
      </p:sp>
      <p:pic>
        <p:nvPicPr>
          <p:cNvPr id="103" name="Google Shape;10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700" y="1530100"/>
            <a:ext cx="4622701" cy="3339668"/>
          </a:xfrm>
          <a:prstGeom prst="rect">
            <a:avLst/>
          </a:prstGeom>
          <a:solidFill>
            <a:srgbClr val="EAF5FB"/>
          </a:solidFill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3555475" y="5295375"/>
            <a:ext cx="27162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213D"/>
                </a:solidFill>
              </a:rPr>
              <a:t>Tuning of KNN using Grid Search and Cross-Validation</a:t>
            </a:r>
            <a:endParaRPr b="1" sz="1650">
              <a:solidFill>
                <a:srgbClr val="14213D"/>
              </a:solidFill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7700" y="1559075"/>
            <a:ext cx="4698675" cy="33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85800" y="72390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4213D"/>
                </a:solidFill>
              </a:rPr>
              <a:t>Gradient Boosting delivered the strongest overall result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5800" y="1171575"/>
            <a:ext cx="10820400" cy="192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06</a:t>
            </a:r>
            <a:endParaRPr/>
          </a:p>
        </p:txBody>
      </p:sp>
      <p:graphicFrame>
        <p:nvGraphicFramePr>
          <p:cNvPr id="115" name="Google Shape;115;p6"/>
          <p:cNvGraphicFramePr/>
          <p:nvPr/>
        </p:nvGraphicFramePr>
        <p:xfrm>
          <a:off x="456550" y="1733700"/>
          <a:ext cx="6850500" cy="3799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6" name="Google Shape;116;p6"/>
          <p:cNvSpPr/>
          <p:nvPr/>
        </p:nvSpPr>
        <p:spPr>
          <a:xfrm>
            <a:off x="7846575" y="1724025"/>
            <a:ext cx="3927300" cy="16191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598250" y="1733700"/>
            <a:ext cx="85800" cy="1619100"/>
          </a:xfrm>
          <a:prstGeom prst="rect">
            <a:avLst/>
          </a:prstGeom>
          <a:solidFill>
            <a:srgbClr val="6DC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736400" y="1809825"/>
            <a:ext cx="17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77.43%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9221250" y="1809825"/>
            <a:ext cx="24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five-fold cross-validation accuracy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920000" y="3544050"/>
            <a:ext cx="3332400" cy="2885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9017" lvl="0" marL="76486" marR="83950" rtl="0" algn="just">
              <a:lnSpc>
                <a:spcPct val="124950"/>
              </a:lnSpc>
              <a:spcBef>
                <a:spcPts val="733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0242A"/>
                </a:solidFill>
              </a:rPr>
              <a:t>The initial Random Forest achieved 76.29 percent test accuracy. Gradient Boosting works differently: it builds trees sequentially so each new tree helps correct remaining errors. </a:t>
            </a:r>
            <a:endParaRPr>
              <a:solidFill>
                <a:srgbClr val="20242A"/>
              </a:solidFill>
            </a:endParaRPr>
          </a:p>
          <a:p>
            <a:pPr indent="9017" lvl="0" marL="76486" marR="83950" rtl="0" algn="just">
              <a:lnSpc>
                <a:spcPct val="124950"/>
              </a:lnSpc>
              <a:spcBef>
                <a:spcPts val="7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0242A"/>
                </a:solidFill>
              </a:rPr>
              <a:t>We used five-fold stratified cross-validation and Grid Search for model tuning.</a:t>
            </a:r>
            <a:endParaRPr sz="1800"/>
          </a:p>
        </p:txBody>
      </p:sp>
      <p:sp>
        <p:nvSpPr>
          <p:cNvPr id="121" name="Google Shape;121;p6"/>
          <p:cNvSpPr/>
          <p:nvPr/>
        </p:nvSpPr>
        <p:spPr>
          <a:xfrm>
            <a:off x="7684050" y="3659757"/>
            <a:ext cx="85800" cy="2542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736400" y="2586650"/>
            <a:ext cx="17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76.67%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9494400" y="2586650"/>
            <a:ext cx="17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test accuracy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53900" y="63440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Grid Search: 72 combinations x 5 folds = 360 fits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13D"/>
                </a:solidFill>
              </a:rPr>
              <a:t>Lower-quality recall changed the model ranking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07</a:t>
            </a:r>
            <a:endParaRPr/>
          </a:p>
        </p:txBody>
      </p:sp>
      <p:graphicFrame>
        <p:nvGraphicFramePr>
          <p:cNvPr id="134" name="Google Shape;134;p7"/>
          <p:cNvGraphicFramePr/>
          <p:nvPr/>
        </p:nvGraphicFramePr>
        <p:xfrm>
          <a:off x="685800" y="1809750"/>
          <a:ext cx="7239000" cy="39528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5" name="Google Shape;135;p7"/>
          <p:cNvSpPr/>
          <p:nvPr/>
        </p:nvSpPr>
        <p:spPr>
          <a:xfrm>
            <a:off x="8382000" y="1952625"/>
            <a:ext cx="3124200" cy="30480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705850" y="228600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65D"/>
                </a:solidFill>
              </a:rPr>
              <a:t>Recall asks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705850" y="285750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4213D"/>
                </a:solidFill>
              </a:rPr>
              <a:t>Of all genuinely lower-quality wines, how many did the model detect?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705850" y="442912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ED7D31"/>
                </a:solidFill>
              </a:rPr>
              <a:t>Tuned RF: 65%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85800" y="590550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48235"/>
                </a:solidFill>
              </a:rPr>
              <a:t>Accuracy remains highest for tuned Gradient Boosting.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85800" y="7239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4213D"/>
                </a:solidFill>
              </a:rPr>
              <a:t>Threshold 0.68 trades accuracy for stronger quality control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08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685800" y="1809750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D8DFF"/>
                </a:solidFill>
              </a:rPr>
              <a:t>Default threshold 0.50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85800" y="2428875"/>
            <a:ext cx="2238375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85800" y="2428875"/>
            <a:ext cx="85725" cy="16192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952500" y="2667000"/>
            <a:ext cx="1762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76.67%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952500" y="3362325"/>
            <a:ext cx="1762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test accuracy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095625" y="2428875"/>
            <a:ext cx="2238375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095625" y="2428875"/>
            <a:ext cx="85725" cy="16192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362325" y="2667000"/>
            <a:ext cx="1762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60.74%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362325" y="3362325"/>
            <a:ext cx="1762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lower-quality recall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562600" y="2952750"/>
            <a:ext cx="857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B6573"/>
                </a:solidFill>
              </a:rPr>
              <a:t>-&gt;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667500" y="1809750"/>
            <a:ext cx="4838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13D"/>
                </a:solidFill>
              </a:rPr>
              <a:t>Quality-control threshold 0.68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667500" y="2428875"/>
            <a:ext cx="2238375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667500" y="2428875"/>
            <a:ext cx="85725" cy="16192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934200" y="2667000"/>
            <a:ext cx="1762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71.88%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934200" y="3362325"/>
            <a:ext cx="1762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test accuracy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077325" y="2428875"/>
            <a:ext cx="2428875" cy="16192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077325" y="2428875"/>
            <a:ext cx="85725" cy="16192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344025" y="2667000"/>
            <a:ext cx="19526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4213D"/>
                </a:solidFill>
              </a:rPr>
              <a:t>76.67%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9344025" y="3362325"/>
            <a:ext cx="195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573"/>
                </a:solidFill>
              </a:rPr>
              <a:t>lower-quality recall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85800" y="4857750"/>
            <a:ext cx="10820400" cy="1000125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52500" y="5124450"/>
            <a:ext cx="1028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65D"/>
                </a:solidFill>
              </a:rPr>
              <a:t>+15.93 points in lower-quality recall    |    -4.79 points in overall accuracy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13D"/>
                </a:solidFill>
              </a:rPr>
              <a:t>The accuracy interval remains entirely above 70%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09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685800" y="1857375"/>
            <a:ext cx="552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4213D"/>
                </a:solidFill>
              </a:rPr>
              <a:t>95% bootstrap confidence interval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238250" y="3143250"/>
            <a:ext cx="8858250" cy="476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333750" y="3076575"/>
            <a:ext cx="5400675" cy="180975"/>
          </a:xfrm>
          <a:prstGeom prst="rect">
            <a:avLst/>
          </a:prstGeom>
          <a:solidFill>
            <a:srgbClr val="6DC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2095500" y="2800350"/>
            <a:ext cx="47625" cy="71437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191250" y="2686050"/>
            <a:ext cx="66675" cy="9525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1428750" y="3714750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48235"/>
                </a:solidFill>
              </a:rPr>
              <a:t>70% objective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876550" y="3524250"/>
            <a:ext cx="1238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D8DFF"/>
                </a:solidFill>
              </a:rPr>
              <a:t>73.52%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334000" y="2190750"/>
            <a:ext cx="1809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4213D"/>
                </a:solidFill>
              </a:rPr>
              <a:t>76.67% observed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096250" y="3524250"/>
            <a:ext cx="1238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D8DFF"/>
                </a:solidFill>
              </a:rPr>
              <a:t>79.57%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85800" y="4762500"/>
            <a:ext cx="10820400" cy="10477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990600" y="506730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213D"/>
                </a:solidFill>
              </a:rPr>
              <a:t>Lower-quality recall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400550" y="5010150"/>
            <a:ext cx="1714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D7D31"/>
                </a:solidFill>
              </a:rPr>
              <a:t>60.74%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477000" y="5067300"/>
            <a:ext cx="4095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B6573"/>
                </a:solidFill>
              </a:rPr>
              <a:t>95% CI: 54.58% to 66.30%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</a:rPr>
              <a:t>WHITE WINE QUALITY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85800" y="7239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4213D"/>
                </a:solidFill>
              </a:rPr>
              <a:t>Alcohol leads the explanation - but the surrogate is approximate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10</a:t>
            </a:r>
            <a:endParaRPr/>
          </a:p>
        </p:txBody>
      </p:sp>
      <p:graphicFrame>
        <p:nvGraphicFramePr>
          <p:cNvPr id="201" name="Google Shape;201;p10"/>
          <p:cNvGraphicFramePr/>
          <p:nvPr/>
        </p:nvGraphicFramePr>
        <p:xfrm>
          <a:off x="685800" y="1809750"/>
          <a:ext cx="6429375" cy="39528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2" name="Google Shape;202;p10"/>
          <p:cNvSpPr/>
          <p:nvPr/>
        </p:nvSpPr>
        <p:spPr>
          <a:xfrm>
            <a:off x="7810500" y="1952625"/>
            <a:ext cx="3695700" cy="3000375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143875" y="22669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65D"/>
                </a:solidFill>
              </a:rPr>
              <a:t>Surrogate Decision Tree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8143875" y="297180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3D8DFF"/>
                </a:solidFill>
              </a:rPr>
              <a:t>87.14%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143875" y="371475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B6573"/>
                </a:solidFill>
              </a:rPr>
              <a:t>test fidelity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8143875" y="433387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13D"/>
                </a:solidFill>
              </a:rPr>
              <a:t>Main splits: alcohol, volatile acidity and free sulfur dioxide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7810500" y="5429250"/>
            <a:ext cx="36957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D7D31"/>
                </a:solidFill>
              </a:rPr>
              <a:t>Fidelity measures agreement with the complex model - not causal truth.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5BDF1"/>
            </a:gs>
            <a:gs pos="100000">
              <a:srgbClr val="116F9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685800" y="3619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</a:rPr>
              <a:t>WHITE WINE QUALITY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85800" y="723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The best operating point depends on the cost of errors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10953750" y="6429375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B6573"/>
                </a:solidFill>
              </a:rPr>
              <a:t>11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85800" y="1809750"/>
            <a:ext cx="2857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chemeClr val="lt1"/>
                </a:solidFill>
              </a:rPr>
              <a:t>76.67%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85800" y="2619375"/>
            <a:ext cx="3714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chemeClr val="lt1"/>
                </a:solidFill>
              </a:rPr>
              <a:t>best general-purpose test accuracy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85800" y="3333750"/>
            <a:ext cx="4191000" cy="66675"/>
          </a:xfrm>
          <a:prstGeom prst="rect">
            <a:avLst/>
          </a:prstGeom>
          <a:solidFill>
            <a:srgbClr val="D6A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5572125" y="18097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13D"/>
                </a:solidFill>
              </a:rPr>
              <a:t>Three conclusions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5572125" y="2428875"/>
            <a:ext cx="561975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4213D"/>
                </a:solidFill>
              </a:rPr>
              <a:t>1. The model can predict with 76.67% of accuracy whether a Portuguese White Wine (Vino Verde) is acceptable-high quality or low quality.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5">
              <a:solidFill>
                <a:srgbClr val="1421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4213D"/>
                </a:solidFill>
              </a:rPr>
              <a:t>2.</a:t>
            </a:r>
            <a:r>
              <a:rPr b="1" lang="en-US" sz="1725">
                <a:solidFill>
                  <a:srgbClr val="14213D"/>
                </a:solidFill>
              </a:rPr>
              <a:t>Tuned Gradient Boosting is the final general-purpose model. Threshold 0.68 raises lower-quality recall to 76.67%.</a:t>
            </a:r>
            <a:r>
              <a:rPr b="1" lang="en-US" sz="1725">
                <a:solidFill>
                  <a:srgbClr val="14213D"/>
                </a:solidFill>
              </a:rPr>
              <a:t> 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5">
              <a:solidFill>
                <a:srgbClr val="1421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4213D"/>
                </a:solidFill>
              </a:rPr>
              <a:t>3. External validation is required before real deployment. And other wine variances need further studies.</a:t>
            </a:r>
            <a:endParaRPr b="1"/>
          </a:p>
        </p:txBody>
      </p:sp>
      <p:sp>
        <p:nvSpPr>
          <p:cNvPr id="222" name="Google Shape;222;p11"/>
          <p:cNvSpPr/>
          <p:nvPr/>
        </p:nvSpPr>
        <p:spPr>
          <a:xfrm>
            <a:off x="685800" y="4200525"/>
            <a:ext cx="4038900" cy="18003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047750" y="4200525"/>
            <a:ext cx="31041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65D"/>
                </a:solidFill>
              </a:rPr>
              <a:t>Machine learning supports quality screening; it does not replace sensory expertise.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6187500" y="6000825"/>
            <a:ext cx="3943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Thank you - questions are welcome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00ABFF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